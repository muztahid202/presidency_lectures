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712" autoAdjust="0"/>
  </p:normalViewPr>
  <p:slideViewPr>
    <p:cSldViewPr snapToGrid="0" snapToObjects="1">
      <p:cViewPr varScale="1">
        <p:scale>
          <a:sx n="91" d="100"/>
          <a:sy n="91" d="100"/>
        </p:scale>
        <p:origin x="1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708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114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— Digital Logic Design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1: Introduction to Digital Logic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Masnoon Muztahid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4564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941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9319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Presidency University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of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We Learn Today?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8E1B22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83080" y="1581912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548640" y="1755648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vs Digital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2148840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48640" y="2322576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and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83080" y="2715768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48640" y="2889504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83080" y="3282696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48640" y="3456432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83080" y="3849624"/>
            <a:ext cx="0" cy="164592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48640" y="4023360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you will be able to: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1709928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169164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digital system 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2185416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1671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analog and digital signals apart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0" y="2660904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041648" y="264261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computers use 0 and 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0" y="3136392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041648" y="3118104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switches can make decisions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3611880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041648" y="3593592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basic logic gates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0" y="4087368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041648" y="406908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build a truth table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DIGITAL LOGIC?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Digital System?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34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417320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 —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stores and processes information using a limited set of separate values.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234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417320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—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countable values with nothing in between — like the steps of a staircase, not a ramp.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551176"/>
            <a:ext cx="429768" cy="4297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514600" y="2331720"/>
            <a:ext cx="868680" cy="868680"/>
          </a:xfrm>
          <a:prstGeom prst="ellipse">
            <a:avLst/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2551176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0312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160520" y="2331720"/>
            <a:ext cx="868680" cy="868680"/>
          </a:xfrm>
          <a:prstGeom prst="ellipse">
            <a:avLst/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2551176"/>
            <a:ext cx="429768" cy="4297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4904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watches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806440" y="2331720"/>
            <a:ext cx="868680" cy="868680"/>
          </a:xfrm>
          <a:prstGeom prst="ellipse">
            <a:avLst/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2551176"/>
            <a:ext cx="429768" cy="4297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7452360" y="2331720"/>
            <a:ext cx="868680" cy="868680"/>
          </a:xfrm>
          <a:prstGeom prst="ellipse">
            <a:avLst/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1816" y="2551176"/>
            <a:ext cx="429768" cy="4297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040880" y="3273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digital systems represent information using a limited set of distinct states.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DIGITAL LOGIC?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Computers Use Digital Logic?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1143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88720" cy="1097280"/>
          </a:xfrm>
          <a:prstGeom prst="rect">
            <a:avLst/>
          </a:prstGeom>
          <a:solidFill>
            <a:srgbClr val="E9C9CB"/>
          </a:solidFill>
          <a:ln w="12700">
            <a:solidFill>
              <a:srgbClr val="8E1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514600"/>
            <a:ext cx="1188720" cy="731520"/>
          </a:xfrm>
          <a:prstGeom prst="rect">
            <a:avLst/>
          </a:prstGeom>
          <a:solidFill>
            <a:srgbClr val="F1F3F4"/>
          </a:solidFill>
          <a:ln w="12700">
            <a:solidFill>
              <a:srgbClr val="B0B4B9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02920" y="3246120"/>
            <a:ext cx="1188720" cy="1097280"/>
          </a:xfrm>
          <a:prstGeom prst="rect">
            <a:avLst/>
          </a:prstGeom>
          <a:solidFill>
            <a:srgbClr val="DDE0E3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41732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range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5146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(avoided)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24612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range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783080" y="1965960"/>
            <a:ext cx="548640" cy="0"/>
          </a:xfrm>
          <a:prstGeom prst="line">
            <a:avLst/>
          </a:prstGeom>
          <a:noFill/>
          <a:ln w="22225">
            <a:solidFill>
              <a:srgbClr val="8E1B2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83080" y="3794760"/>
            <a:ext cx="548640" cy="0"/>
          </a:xfrm>
          <a:prstGeom prst="line">
            <a:avLst/>
          </a:prstGeom>
          <a:noFill/>
          <a:ln w="22225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423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1143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 only has to answer one simple question: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voltage HIGH or LOW?”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19659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tell apart — two ranges that are far from each other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— a small wobble in voltage does not change the meaning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every part only needs to handle two states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91840" y="32461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56432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456432" y="352044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—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electrical “push” in a circuit, measured in volts (V).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80760" y="32461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45352" y="3337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45352" y="3520440"/>
            <a:ext cx="2276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—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unwanted changes in a signal (for example from nearby wires).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VS DIGITAL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vs Digital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383280" cy="160260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097280"/>
            <a:ext cx="3383280" cy="160260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Analog: changes smoothly, can take any value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892040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Digital: jumps between two distinct levels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108960"/>
          <a:ext cx="7498080" cy="1316736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values — any value in a 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Discrete values — only certain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vary smoothly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distinct states (here: 0 and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microphone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computer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VS DIGITAL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Real-World Example: The Light Switch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6304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4630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  →  light OFF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834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Shape 5"/>
          <p:cNvSpPr/>
          <p:nvPr/>
        </p:nvSpPr>
        <p:spPr>
          <a:xfrm>
            <a:off x="4937760" y="118872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463040"/>
            <a:ext cx="914400" cy="91440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463040"/>
            <a:ext cx="914400" cy="9144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93776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  →  light ON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4937760" y="2834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8"/>
          <p:cNvSpPr txBox="1"/>
          <p:nvPr/>
        </p:nvSpPr>
        <p:spPr>
          <a:xfrm>
            <a:off x="420624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32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↔ ON     is like     0 ↔ 1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analogy: a light switch has exactly two states, just like one digital signal.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AND LOGIC LEVELS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Basic Logic States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88720"/>
          <a:ext cx="7498080" cy="148132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value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level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/ 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6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291840"/>
            <a:ext cx="3694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level —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range of voltages that the circuit treats as the same logical value (0 or 1).</a:t>
            </a:r>
            <a:endParaRPr lang="en-US" sz="1400" dirty="0"/>
          </a:p>
        </p:txBody>
      </p:sp>
      <p:sp>
        <p:nvSpPr>
          <p:cNvPr id="4" name="Shape 5"/>
          <p:cNvSpPr/>
          <p:nvPr/>
        </p:nvSpPr>
        <p:spPr>
          <a:xfrm>
            <a:off x="4663440" y="301752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28032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828032" y="331012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and 1 are logical states, not exact voltages. “1” means “somewhere in the HIGH range”, not “exactly 5 V”.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AND LOGIC LEVELS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Bit?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r>
              <a:rPr lang="en-US" sz="2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2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r>
              <a:rPr lang="en-US" sz="2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nary digi</a:t>
            </a:r>
            <a:r>
              <a:rPr lang="en-US" sz="2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11680"/>
            <a:ext cx="36941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—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exactly two possible values. A bit is always 0 or 1.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310896" cy="310896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063240"/>
            <a:ext cx="310896" cy="310896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306324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51760" y="3063240"/>
            <a:ext cx="310896" cy="310896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17520" y="306324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10896" cy="310896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310896" cy="310896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74904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3749040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920240" y="3749040"/>
            <a:ext cx="310896" cy="310896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bits carries information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bits → more patterns: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1874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1874520"/>
            <a:ext cx="274320" cy="274320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patterns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93776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bits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0" y="23774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998464" y="23774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419088" y="23774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48272" y="2377440"/>
            <a:ext cx="274320" cy="274320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68896" y="2377440"/>
            <a:ext cx="274320" cy="274320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98080" y="23774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4B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918704" y="2377440"/>
            <a:ext cx="274320" cy="274320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247888" y="2377440"/>
            <a:ext cx="274320" cy="274320"/>
          </a:xfrm>
          <a:prstGeom prst="rect">
            <a:avLst/>
          </a:prstGeom>
          <a:solidFill>
            <a:srgbClr val="8E1B22"/>
          </a:solidFill>
          <a:ln w="12700"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patterns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93776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bits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000, 001, 010, … 111  →  8 patterns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37760" y="370332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numbers, images and sound are all stored as bits.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Switch?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controls whether a path is open or closed.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291840" cy="173254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17320"/>
            <a:ext cx="3291840" cy="17325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current cannot flow → OFF → </a:t>
            </a: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8463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current can flow → ON → </a:t>
            </a:r>
            <a:r>
              <a:rPr lang="en-US" sz="15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36576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1792" y="3749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621792" y="3931920"/>
            <a:ext cx="36941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—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that electricity can flow around.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36576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28032" y="3749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4828032" y="3931920"/>
            <a:ext cx="36941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of electricity through the circuit (shown in red).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Switching Circuit?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188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371600"/>
            <a:ext cx="79004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 — 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 whose components operate between distinct states, such as ON and OFF, to represent logical values.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state  →  Logic state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57400" y="2834640"/>
            <a:ext cx="731520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834640" y="26060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8E1B22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57400" y="3474720"/>
            <a:ext cx="731520" cy="0"/>
          </a:xfrm>
          <a:prstGeom prst="line">
            <a:avLst/>
          </a:prstGeom>
          <a:noFill/>
          <a:ln w="22225">
            <a:solidFill>
              <a:srgbClr val="8E1B2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834640" y="324612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8E1B22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235000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05456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62356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switch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253288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ON/OFF by a hand. Easy to see, but big and slow.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3337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28032" y="3538728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694176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623560" y="3447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5623560" y="3721608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 switch turned ON/OFF by a voltage. A modern processor contains billions.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Switches — AND Behavior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3108960" cy="14838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25877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1, B = 0  →  lamp OFF (0)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34640"/>
            <a:ext cx="3108960" cy="148382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4325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1, B = 1  →  lamp ON (1)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3931920" y="1097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one after another, on a single path.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lamp is ON only when </a:t>
            </a:r>
            <a:r>
              <a:rPr lang="en-US" sz="15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 and B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closed.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874520"/>
          <a:ext cx="2286000" cy="14630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583680" y="187452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20840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6720840" y="2176272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locker with two locks opens only if key A AND key B are both turned.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931920" y="361188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switching  →  AND behavior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931920" y="4160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closed = 1, open = 0.  Lamp ON = 1, OFF = 0.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Switches — OR Behavior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3017520" cy="15430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26426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0, B = 0  →  lamp OFF (0)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80360"/>
            <a:ext cx="3017520" cy="15430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44256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0, B = 1  →  lamp ON (1)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3931920" y="10972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side by side, on separate paths.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lamp is ON if </a:t>
            </a:r>
            <a:r>
              <a:rPr lang="en-US" sz="15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switch is closed.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874520"/>
          <a:ext cx="2286000" cy="146304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583680" y="1874520"/>
            <a:ext cx="2148840" cy="1463040"/>
          </a:xfrm>
          <a:prstGeom prst="roundRect">
            <a:avLst>
              <a:gd name="adj" fmla="val 5000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720840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176272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doorbell with a front button and a back button: either one rings it.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931920" y="361188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switching  →  OR behavior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931920" y="4160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only needs ONE complete path to reach the lamp.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Switches to Logic Gates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with two states: ON / OFF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47088" y="1664208"/>
            <a:ext cx="246888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112264" y="13258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066544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wired in series or parallel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47872" y="1664208"/>
            <a:ext cx="246888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813048" y="13258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 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48656" y="1664208"/>
            <a:ext cx="246888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513832" y="13258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8E1B22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68112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blocks that do one operation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664208"/>
            <a:ext cx="246888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214616" y="1325880"/>
            <a:ext cx="14173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Circuits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68896" y="21031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adders, memory, processors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LOGIC GATES EXIST?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2461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packages one logical operation into a reusable block. Designers can then think “AND” or “OR” instead of drawing switches and wires every time.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28032" y="3017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324612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Hand-operated switches are only a model to build intuition. Real gates are made of transistors, so they are tiny, fast and controlled by electricity.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Logic Gate?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188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371600"/>
            <a:ext cx="7900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 — 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circuit that performs a logical operation on one or more inputs and produces an output.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331720"/>
            <a:ext cx="15910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0/1 signal going INTO the gate.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0574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24912" y="2148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331720"/>
            <a:ext cx="15910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0/1 signal the gate PRODUCES.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20640" y="2468880"/>
            <a:ext cx="731520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80060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20640" y="2880360"/>
            <a:ext cx="731520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852160" y="224028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8E1B22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32320" y="2679192"/>
            <a:ext cx="822960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046720" y="2542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1737360" cy="82731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2743200" y="36118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AND gate with inputs </a:t>
            </a: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1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output </a:t>
            </a:r>
            <a:r>
              <a:rPr lang="en-US" sz="15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2743200" y="4023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 →  AND  →  Y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Basic Gates: AND, OR, NOT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61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481328"/>
            <a:ext cx="1645920" cy="78377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only if ALL inputs are 1</a:t>
            </a:r>
            <a:endParaRPr lang="en-US" sz="1300" dirty="0"/>
          </a:p>
        </p:txBody>
      </p:sp>
      <p:pic>
        <p:nvPicPr>
          <p:cNvPr id="8" name="Image 1" descr="Y = A · 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581" y="2394966"/>
            <a:ext cx="868997" cy="3670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770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· ” is read “AND”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090672"/>
          <a:ext cx="1554480" cy="13716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3273552" y="10972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273552" y="1161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472" y="1481328"/>
            <a:ext cx="1645920" cy="7655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364992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AT LEAST ONE input is 1</a:t>
            </a:r>
            <a:endParaRPr lang="en-US" sz="1300" dirty="0"/>
          </a:p>
        </p:txBody>
      </p:sp>
      <p:pic>
        <p:nvPicPr>
          <p:cNvPr id="15" name="Image 3" descr="Y = A + 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946" y="2394966"/>
            <a:ext cx="922972" cy="367030"/>
          </a:xfrm>
          <a:prstGeom prst="rect">
            <a:avLst/>
          </a:prstGeom>
        </p:spPr>
      </p:pic>
      <p:sp>
        <p:nvSpPr>
          <p:cNvPr id="10" name="Text 9"/>
          <p:cNvSpPr txBox="1"/>
          <p:nvPr/>
        </p:nvSpPr>
        <p:spPr>
          <a:xfrm>
            <a:off x="3364992" y="2770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+ ” is read “OR” — not addition!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22192" y="3090672"/>
          <a:ext cx="1554480" cy="13716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0"/>
          <p:cNvSpPr/>
          <p:nvPr/>
        </p:nvSpPr>
        <p:spPr>
          <a:xfrm>
            <a:off x="6089904" y="109728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6089904" y="11612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8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1481328"/>
            <a:ext cx="1645920" cy="833377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181344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input</a:t>
            </a:r>
            <a:endParaRPr lang="en-US" sz="1300" dirty="0"/>
          </a:p>
        </p:txBody>
      </p:sp>
      <p:pic>
        <p:nvPicPr>
          <p:cNvPr id="22" name="Image 5" descr="Y = NOT(A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6913" y="2394966"/>
            <a:ext cx="557742" cy="36703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181344" y="2770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is read “NOT A”</a:t>
            </a:r>
            <a:endParaRPr lang="en-US" sz="11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21424" y="3090672"/>
          <a:ext cx="1188720" cy="82296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Text 1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6" name="Text 15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1 only when ALL inputs are 1.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represent “all conditions must be true”.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103120" cy="1001486"/>
          </a:xfrm>
          <a:prstGeom prst="rect">
            <a:avLst/>
          </a:prstGeom>
        </p:spPr>
      </p:pic>
      <p:pic>
        <p:nvPicPr>
          <p:cNvPr id="10" name="Image 1" descr="Y = A · 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705" y="2918460"/>
            <a:ext cx="1022350" cy="43180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97280"/>
          <a:ext cx="2286000" cy="15544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846320" y="292608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983480" y="3063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004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66928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security alarm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02920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sounds (Y = 1) only when sensor A detects something AND sensor B detects something.</a:t>
            </a:r>
            <a:endParaRPr lang="en-US" sz="1300" dirty="0"/>
          </a:p>
        </p:txBody>
      </p:sp>
      <p:sp>
        <p:nvSpPr>
          <p:cNvPr id="11" name="Text 11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1 when AT LEAST ONE input is 1.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represent “any one condition is enough”.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103120" cy="978195"/>
          </a:xfrm>
          <a:prstGeom prst="rect">
            <a:avLst/>
          </a:prstGeom>
        </p:spPr>
      </p:pic>
      <p:pic>
        <p:nvPicPr>
          <p:cNvPr id="10" name="Image 1" descr="Y = A + 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955" y="2918460"/>
            <a:ext cx="1085850" cy="43180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97280"/>
          <a:ext cx="2286000" cy="155448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846320" y="292608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983480" y="3063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004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66928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call button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02920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buzzer rings (Y = 1) if button A is pressed OR button B is pressed — or both.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1" name="Text 12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reverses (inverts) the input.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express the opposite of a condition.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0"/>
            <a:ext cx="2103120" cy="1064871"/>
          </a:xfrm>
          <a:prstGeom prst="rect">
            <a:avLst/>
          </a:prstGeom>
        </p:spPr>
      </p:pic>
      <p:pic>
        <p:nvPicPr>
          <p:cNvPr id="10" name="Image 1" descr="Y = NOT(A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797" y="2918460"/>
            <a:ext cx="656167" cy="43180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097280"/>
          <a:ext cx="1828800" cy="93268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846320" y="2926080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983480" y="3063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2004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66928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night lamp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02920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 = NOT(daylight). Daylight = 1 → lamp 0. Daylight = 0 → lamp 1.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sp>
        <p:nvSpPr>
          <p:cNvPr id="11" name="Text 13"/>
          <p:cNvSpPr txBox="1"/>
          <p:nvPr/>
        </p:nvSpPr>
        <p:spPr>
          <a:xfrm>
            <a:off x="5074920" y="21305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5413248" y="2304288"/>
            <a:ext cx="393192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1" name="Text 15"/>
          <p:cNvSpPr/>
          <p:nvPr/>
        </p:nvSpPr>
        <p:spPr>
          <a:xfrm>
            <a:off x="5824728" y="2130552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8E1B22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711696" y="2304288"/>
            <a:ext cx="393192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3" name="Text 17"/>
          <p:cNvSpPr txBox="1"/>
          <p:nvPr/>
        </p:nvSpPr>
        <p:spPr>
          <a:xfrm>
            <a:off x="7132320" y="21305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5074920" y="25237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5413248" y="2697480"/>
            <a:ext cx="393192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6" name="Text 20"/>
          <p:cNvSpPr/>
          <p:nvPr/>
        </p:nvSpPr>
        <p:spPr>
          <a:xfrm>
            <a:off x="5824728" y="2523744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8E1B22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711696" y="2697480"/>
            <a:ext cx="393192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7132320" y="25237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Gates: NAND, NOR, XOR, XNOR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1325880" cy="602673"/>
          </a:xfrm>
          <a:prstGeom prst="rect">
            <a:avLst/>
          </a:prstGeom>
        </p:spPr>
      </p:pic>
      <p:pic>
        <p:nvPicPr>
          <p:cNvPr id="7" name="Image 1" descr="Y = NOT(A · B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72" y="1912620"/>
            <a:ext cx="726017" cy="3022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2267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NOT(AND)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560320" y="105156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560320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1371600"/>
            <a:ext cx="1325880" cy="589280"/>
          </a:xfrm>
          <a:prstGeom prst="rect">
            <a:avLst/>
          </a:prstGeom>
        </p:spPr>
      </p:pic>
      <p:pic>
        <p:nvPicPr>
          <p:cNvPr id="12" name="Image 3" descr="Y = NOT(A + B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8067" y="1912620"/>
            <a:ext cx="770467" cy="3022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606040" y="2267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NOT(OR)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663440" y="105156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4663440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371600"/>
            <a:ext cx="1325880" cy="616688"/>
          </a:xfrm>
          <a:prstGeom prst="rect">
            <a:avLst/>
          </a:prstGeom>
        </p:spPr>
      </p:pic>
      <p:pic>
        <p:nvPicPr>
          <p:cNvPr id="17" name="Image 5" descr="Y = A ⊕ 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3407" y="1912620"/>
            <a:ext cx="806027" cy="3022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709160" y="2267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when inputs are DIFFERENT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6766560" y="105156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12700">
            <a:solidFill>
              <a:srgbClr val="F7F7F8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766560" y="10972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</a:t>
            </a:r>
            <a:endParaRPr lang="en-US" sz="1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1371600"/>
            <a:ext cx="1325880" cy="589280"/>
          </a:xfrm>
          <a:prstGeom prst="rect">
            <a:avLst/>
          </a:prstGeom>
        </p:spPr>
      </p:pic>
      <p:pic>
        <p:nvPicPr>
          <p:cNvPr id="22" name="Image 7" descr="Y = NOT(A ⊕ B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1341" y="1912620"/>
            <a:ext cx="816398" cy="30226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812280" y="22677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when inputs are the SAME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206240" cy="13716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hape 14"/>
          <p:cNvSpPr/>
          <p:nvPr/>
        </p:nvSpPr>
        <p:spPr>
          <a:xfrm>
            <a:off x="5486400" y="2880360"/>
            <a:ext cx="3200400" cy="1645920"/>
          </a:xfrm>
          <a:prstGeom prst="roundRect">
            <a:avLst>
              <a:gd name="adj" fmla="val 4444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5650992" y="29718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</a:t>
            </a:r>
            <a:endParaRPr lang="en-US" sz="900" dirty="0"/>
          </a:p>
        </p:txBody>
      </p:sp>
      <p:sp>
        <p:nvSpPr>
          <p:cNvPr id="27" name="Text 16"/>
          <p:cNvSpPr txBox="1"/>
          <p:nvPr/>
        </p:nvSpPr>
        <p:spPr>
          <a:xfrm>
            <a:off x="5650992" y="32004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/ NOR: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AND / OR, then flip.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XOR: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“difference detector”.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XNOR: </a:t>
            </a: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“sameness detector”.</a:t>
            </a:r>
            <a:endParaRPr lang="en-US" sz="1300" dirty="0"/>
          </a:p>
        </p:txBody>
      </p:sp>
      <p:sp>
        <p:nvSpPr>
          <p:cNvPr id="28" name="Text 17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9" name="Text 18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Truth Table?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188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TERM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371600"/>
            <a:ext cx="79004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— </a:t>
            </a: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that lists every possible combination of inputs and shows the output for each one.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IT?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completely describes the logical behavior of a circuit — nothing is left out.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63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circuits have the same truth table, they do the same job.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0574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057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331720"/>
          <a:ext cx="2286000" cy="16459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DA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 flipH="1">
            <a:off x="7498080" y="3648456"/>
            <a:ext cx="914400" cy="0"/>
          </a:xfrm>
          <a:prstGeom prst="line">
            <a:avLst/>
          </a:prstGeom>
          <a:noFill/>
          <a:ln w="22225">
            <a:solidFill>
              <a:srgbClr val="8E1B2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745236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situation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AND gate. Row 3 says “if A = 1 and B = 0, then Y = 0”.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 Truth 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61288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114300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inputs:  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563624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rows = 2ⁿ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1984248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combination (count in binary)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256032" cy="256032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40487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output column row by row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971800"/>
          <a:ext cx="3108960" cy="1371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(2ⁿ)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 =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 =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2³ =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2⁴ =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846320" y="1097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list combinations</a:t>
            </a:r>
            <a:endParaRPr lang="en-US" sz="12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417320"/>
          <a:ext cx="1280160" cy="16459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46520" y="2240280"/>
            <a:ext cx="457200" cy="0"/>
          </a:xfrm>
          <a:prstGeom prst="line">
            <a:avLst/>
          </a:prstGeom>
          <a:noFill/>
          <a:ln w="22225">
            <a:solidFill>
              <a:srgbClr val="8E1B22"/>
            </a:solidFill>
            <a:prstDash val="solid"/>
            <a:tailEnd type="triangle"/>
          </a:ln>
        </p:spPr>
      </p:sp>
      <p:sp>
        <p:nvSpPr>
          <p:cNvPr id="16" name="Text 12"/>
          <p:cNvSpPr txBox="1"/>
          <p:nvPr/>
        </p:nvSpPr>
        <p:spPr>
          <a:xfrm>
            <a:off x="676656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fill output (AND)</a:t>
            </a:r>
            <a:endParaRPr lang="en-US" sz="1200" dirty="0"/>
          </a:p>
        </p:txBody>
      </p:sp>
      <p:graphicFrame>
        <p:nvGraphicFramePr>
          <p:cNvPr id="6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417320"/>
          <a:ext cx="1737360" cy="16459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14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8E1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3"/>
          <p:cNvSpPr/>
          <p:nvPr/>
        </p:nvSpPr>
        <p:spPr>
          <a:xfrm>
            <a:off x="4846320" y="329184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F4F5F6"/>
          </a:solidFill>
          <a:ln w="12700">
            <a:solidFill>
              <a:srgbClr val="F4F5F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010912" y="3383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010912" y="359359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00, 01, 10, 11 — like counting in binary. This way you never miss or repeat a row.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12" name="Text 17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25880"/>
            <a:ext cx="384048" cy="384048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80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AND when A = 1 and B = 0?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AND needs ALL inputs to be 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325880"/>
            <a:ext cx="384048" cy="384048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280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XOR when A = 1 and B = 0?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XOR checks if inputs are different.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17520"/>
            <a:ext cx="384048" cy="384048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 are needed in a truth table with 3 inputs?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use 2ⁿ.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3017520"/>
            <a:ext cx="384048" cy="384048"/>
          </a:xfrm>
          <a:prstGeom prst="ellipse">
            <a:avLst/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a switching circuit and a logic gate?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think “model” vs “building block”.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&amp;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170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gives 1 only when ALL inputs are 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4408" y="10972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70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178808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inputs (1 and 0) are different.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1616" y="10972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6208" y="1170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13716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986016" y="1325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2³ = 8 rows.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7EEEE"/>
          </a:solidFill>
          <a:ln w="12700">
            <a:solidFill>
              <a:srgbClr val="F7EE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542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816352"/>
            <a:ext cx="7909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circuit: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(ON/OFF) wired together so that their states represent logic.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gate: </a:t>
            </a: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electronic block (made of transistor switches) that performs one logical operation.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47088" y="4233672"/>
            <a:ext cx="292608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157984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547872" y="4233672"/>
            <a:ext cx="292608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858768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48656" y="4233672"/>
            <a:ext cx="292608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559552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49440" y="4233672"/>
            <a:ext cx="292608" cy="0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260336" y="4005072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E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05156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2628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 distinct states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426464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371600" y="1563624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and 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5636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logic levels: LOW and HIGH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938528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371600" y="2075688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Circuits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ON/OFF switches represent logic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2450592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371600" y="2587752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5877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NOT, NAND, NOR, XOR, XNOR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34640" y="2962656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71600" y="3099816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0998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every input combination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3474720"/>
            <a:ext cx="0" cy="128016"/>
          </a:xfrm>
          <a:prstGeom prst="line">
            <a:avLst/>
          </a:prstGeom>
          <a:noFill/>
          <a:ln w="22225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371600" y="3611880"/>
            <a:ext cx="2926080" cy="365760"/>
          </a:xfrm>
          <a:prstGeom prst="roundRect">
            <a:avLst>
              <a:gd name="adj" fmla="val 15000"/>
            </a:avLst>
          </a:prstGeom>
          <a:solidFill>
            <a:srgbClr val="8E1B22"/>
          </a:solidFill>
          <a:ln w="15875">
            <a:solidFill>
              <a:srgbClr val="8E1B2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Digital Circuits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adders, memory, processors 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8E1B22"/>
          </a:solidFill>
          <a:ln>
            <a:solidFill>
              <a:srgbClr val="8E1B2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Boolean Algebra and Boolean Expressions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CSE207 · Digital Logic Design · Class 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2329</Words>
  <Application>Microsoft Office PowerPoint</Application>
  <PresentationFormat>On-screen Show (16:9)</PresentationFormat>
  <Paragraphs>597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CSE207 Class 1: Introduction to Digital Logic</dc:title>
  <dc:subject>PptxGenJS Presentation</dc:subject>
  <dc:creator>Masnoon Muztahid</dc:creator>
  <cp:lastModifiedBy>2005067 - Masnoon Muztahid</cp:lastModifiedBy>
  <cp:revision>2</cp:revision>
  <dcterms:created xsi:type="dcterms:W3CDTF">2026-09-22T10:22:06Z</dcterms:created>
  <dcterms:modified xsi:type="dcterms:W3CDTF">2026-09-22T18:50:04Z</dcterms:modified>
</cp:coreProperties>
</file>