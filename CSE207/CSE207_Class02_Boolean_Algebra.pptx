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371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back. Class 1 ended by naming today's topic: Boolean algebra and Boolean expressions.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 - three minutes. The only goal is to bring back 0/1, gates and truth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road map on the left; read the six objectives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1 treated 0 and 1 as voltage levels. Today they become values we can calculate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three operations as the three basic gates in Class 1 - now written as mathematics.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common beginner mistake. Spend a minute on 1 + 1 =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example aloud in words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operation = one gate. Start from the smallest possible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this on the board at the same time as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bar over C, then at the NOT gate on the C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1 built truth tables for single gates. Now we do it for a complete expression.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this: never try to get F in one jump. Add a column for each inner term.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central idea of Class 2. Make sure everyone sees that all three describe one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class what they notice before revealing the right-hand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ask anyone to memorise these today. They are tools to recognise, not facts to recite.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Absorption and Distributive are the two we will actually use in today's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them they never have to take a law on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memory rule out loud twice: break the bar, change the operation. Then walk the class along one row of the table at a time - the A+B and A.B columns are the intermediate columns, and the two bracketed pairs are what actually prove the laws.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law out loud at every single step. That is the habit we want.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Three-variable examples. In every one the FIRST move is De Morgan - break the bar - and only then do the ordinary laws apply. Point that out each time. Ex 1 ends on Complement, Ex 2 on Null (A-bar + 1 = 1), Ex 3 on Absorption.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Boolean algebra stops being maths and becomes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from today in one problem. Work the three parts on the board in this order: simplify, draw the simplified circuit, then check with the truth table. The key move is spotting that the first two terms share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them two or three minutes. Walk around; do not reveal the answers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law name the point of each answer, not the letter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Answers. 1) A  Absorption. 2) A  factor A, Complement, Identity. 3) A + B  Distributive, Complement, Identity. 4) A.B  factor A.B, then C + NOT C = 1, Identity. 5) A.(B + C)  Absorption removes A.B.C, then factor A. 6) A  De Morgan and Involution turn the first factor into A + B, then (A+B)(A+NOT B) = A + B.NOT B = A. 7) C.(A + B)  factor A.C from the first two terms, then A.C + NOT A.B.C = C.(A + NOT A.B) = C.(A + B). 8) A  the first two factors give (A+B) + C.NOT C = A + B, then (A+B)(A+NOT B) = A. Truth-table sizes: 1, 2, 3 and 6 are two-variable, so 4 rows; 4, 5, 7 and 8 are three-variable, so 8 rows. Problems 6 to 8 are the hard ones - warn the class that they need more than one law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 back to Class 1, then open the door to Class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3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35.pn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19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44.png"/><Relationship Id="rId4" Type="http://schemas.openxmlformats.org/officeDocument/2006/relationships/image" Target="../media/image5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45.png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tmp\c207\assets\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54864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468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2: Boolean Algebra and Boolean Expressions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246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Masnoon Muztahid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593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8313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0690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Presidency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Left Off in Class 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78992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" y="11704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CLASS 1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1371600"/>
            <a:ext cx="79004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logic uses only two values: 0 and 1. A logic gate takes binary inputs and produces a binary output. A truth table lists every input combination together with the output.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1031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7F7F8"/>
          </a:solidFill>
          <a:ln w="12700">
            <a:solidFill>
              <a:srgbClr val="F7F7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1671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800" dirty="0"/>
          </a:p>
        </p:txBody>
      </p:sp>
      <p:pic>
        <p:nvPicPr>
          <p:cNvPr id="12" name="Image 0" descr="C:\tmp\c207\assets\c_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93" y="2462936"/>
            <a:ext cx="1388974" cy="65196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94360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only if BOTH inputs are 1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273552" y="21031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7F7F8"/>
          </a:solidFill>
          <a:ln w="12700">
            <a:solidFill>
              <a:srgbClr val="F7F7F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273552" y="21671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800" dirty="0"/>
          </a:p>
        </p:txBody>
      </p:sp>
      <p:pic>
        <p:nvPicPr>
          <p:cNvPr id="16" name="Image 1" descr="C:\tmp\c207\assets\c_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4945" y="2462936"/>
            <a:ext cx="1388974" cy="65196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410712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if AT LEAST ONE input is 1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089904" y="21031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7F7F8"/>
          </a:solidFill>
          <a:ln w="12700">
            <a:solidFill>
              <a:srgbClr val="F7F7F8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089904" y="21671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1800" dirty="0"/>
          </a:p>
        </p:txBody>
      </p:sp>
      <p:pic>
        <p:nvPicPr>
          <p:cNvPr id="20" name="Image 2" descr="C:\tmp\c207\assets\c_n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1754" y="2547518"/>
            <a:ext cx="1388059" cy="48280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227064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the input value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457200" y="3913632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4F5F6"/>
          </a:solidFill>
          <a:ln w="12700">
            <a:solidFill>
              <a:srgbClr val="F4F5F6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21792" y="398678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BACK LATER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621792" y="4178808"/>
            <a:ext cx="7900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NAND, NOR, XOR and XNOR were introduced in Class 1. We will revisit them when we need them.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We Learn Today?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18872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8E1B22"/>
          </a:solidFill>
          <a:ln w="15875">
            <a:solidFill>
              <a:srgbClr val="8E1B2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188720"/>
            <a:ext cx="24688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Values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783080" y="1581912"/>
            <a:ext cx="0" cy="164592"/>
          </a:xfrm>
          <a:prstGeom prst="line">
            <a:avLst/>
          </a:prstGeom>
          <a:noFill/>
          <a:ln w="22225">
            <a:solidFill>
              <a:srgbClr val="5F636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755648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8E1B2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1755648"/>
            <a:ext cx="24688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Operations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783080" y="2148840"/>
            <a:ext cx="0" cy="164592"/>
          </a:xfrm>
          <a:prstGeom prst="line">
            <a:avLst/>
          </a:prstGeom>
          <a:noFill/>
          <a:ln w="22225">
            <a:solidFill>
              <a:srgbClr val="5F636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2322576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8E1B2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322576"/>
            <a:ext cx="24688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Expressions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783080" y="2715768"/>
            <a:ext cx="0" cy="164592"/>
          </a:xfrm>
          <a:prstGeom prst="line">
            <a:avLst/>
          </a:prstGeom>
          <a:noFill/>
          <a:ln w="22225">
            <a:solidFill>
              <a:srgbClr val="5F636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2889504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8E1B2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2889504"/>
            <a:ext cx="24688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→ Circuit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783080" y="3282696"/>
            <a:ext cx="0" cy="164592"/>
          </a:xfrm>
          <a:prstGeom prst="line">
            <a:avLst/>
          </a:prstGeom>
          <a:noFill/>
          <a:ln w="22225">
            <a:solidFill>
              <a:srgbClr val="5F636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" y="3456432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8E1B2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3456432"/>
            <a:ext cx="24688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→ Truth Table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783080" y="3849624"/>
            <a:ext cx="0" cy="164592"/>
          </a:xfrm>
          <a:prstGeom prst="line">
            <a:avLst/>
          </a:prstGeom>
          <a:noFill/>
          <a:ln w="22225">
            <a:solidFill>
              <a:srgbClr val="5F636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402336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875">
            <a:solidFill>
              <a:srgbClr val="8E1B2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4023360"/>
            <a:ext cx="24688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Simplification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3657600" y="1188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class, you will be able to: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657600" y="1709928"/>
            <a:ext cx="256032" cy="256032"/>
          </a:xfrm>
          <a:prstGeom prst="ellipse">
            <a:avLst/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657600" y="1709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041648" y="1691640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0 and 1 as Boolean values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3657600" y="2185416"/>
            <a:ext cx="256032" cy="256032"/>
          </a:xfrm>
          <a:prstGeom prst="ellipse">
            <a:avLst/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657600" y="2185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4041648" y="2167128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AND, OR and NOT operations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3657600" y="2660904"/>
            <a:ext cx="256032" cy="256032"/>
          </a:xfrm>
          <a:prstGeom prst="ellipse">
            <a:avLst/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657600" y="2660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4041648" y="2642616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write Boolean expressions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3657600" y="3136392"/>
            <a:ext cx="256032" cy="256032"/>
          </a:xfrm>
          <a:prstGeom prst="ellipse">
            <a:avLst/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657600" y="3136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4041648" y="3118104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 expression into a logic circuit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3657600" y="3611880"/>
            <a:ext cx="256032" cy="256032"/>
          </a:xfrm>
          <a:prstGeom prst="ellipse">
            <a:avLst/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657600" y="3611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4041648" y="3593592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truth table for a whole expression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3657600" y="4087368"/>
            <a:ext cx="256032" cy="256032"/>
          </a:xfrm>
          <a:prstGeom prst="ellipse">
            <a:avLst/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657600" y="4087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4041648" y="4069080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expressions using Boolean laws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VALUES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Values: Only 0 and 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" y="11338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TERM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1316736"/>
            <a:ext cx="7900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algebra — the mathematics of values that can only be 0 or 1. It is the language we use to describe what a digital circuit does.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192024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7F7F8"/>
          </a:solidFill>
          <a:ln w="12700">
            <a:solidFill>
              <a:srgbClr val="F7F7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2240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1600200" y="26334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read as: no · OFF · LOW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663440" y="192024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7F7F8"/>
          </a:solidFill>
          <a:ln w="12700">
            <a:solidFill>
              <a:srgbClr val="F7F7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92040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6" name="Text 13"/>
          <p:cNvSpPr txBox="1"/>
          <p:nvPr/>
        </p:nvSpPr>
        <p:spPr>
          <a:xfrm>
            <a:off x="5806440" y="2240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5806440" y="26334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read as: yes · ON · HIGH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57200" y="32461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4F5F6"/>
          </a:solidFill>
          <a:ln w="12700">
            <a:solidFill>
              <a:srgbClr val="F4F5F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" y="332841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621792" y="3520440"/>
            <a:ext cx="7900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Boolean variable (A, B, C …) is simply a name for a value that is either 0 or 1 — there is nothing in between.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Class 1, 0 and 1 were voltage levels. From now on they are values we can calculate with.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OPERATIONS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Boolean Operations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9728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7F7F8"/>
          </a:solidFill>
          <a:ln w="12700">
            <a:solidFill>
              <a:srgbClr val="F7F7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15214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800" dirty="0"/>
          </a:p>
        </p:txBody>
      </p:sp>
      <p:pic>
        <p:nvPicPr>
          <p:cNvPr id="9" name="Image 0" descr="C:\tmp\c207\assets\n_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644" y="1501875"/>
            <a:ext cx="572872" cy="21762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181965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as “A AND B”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0665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only if BOTH inputs are 1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2487168"/>
          <a:ext cx="1554480" cy="123444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4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3273552" y="109728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7F7F8"/>
          </a:solidFill>
          <a:ln w="12700">
            <a:solidFill>
              <a:srgbClr val="F7F7F8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3273552" y="115214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800" dirty="0"/>
          </a:p>
        </p:txBody>
      </p:sp>
      <p:pic>
        <p:nvPicPr>
          <p:cNvPr id="15" name="Image 1" descr="C:\tmp\c207\assets\n_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388" y="1501875"/>
            <a:ext cx="712089" cy="21762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364992" y="181965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as “A OR B”</a:t>
            </a:r>
            <a:endParaRPr lang="en-US" sz="1100" dirty="0"/>
          </a:p>
        </p:txBody>
      </p:sp>
      <p:sp>
        <p:nvSpPr>
          <p:cNvPr id="17" name="Text 11"/>
          <p:cNvSpPr txBox="1"/>
          <p:nvPr/>
        </p:nvSpPr>
        <p:spPr>
          <a:xfrm>
            <a:off x="3364992" y="20665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if AT LEAST ONE input is 1</a:t>
            </a:r>
            <a:endParaRPr lang="en-US" sz="1300" dirty="0"/>
          </a:p>
        </p:txBody>
      </p:sp>
      <p:graphicFrame>
        <p:nvGraphicFramePr>
          <p:cNvPr id="1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22192" y="2487168"/>
          <a:ext cx="1554480" cy="123444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4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Shape 12"/>
          <p:cNvSpPr/>
          <p:nvPr/>
        </p:nvSpPr>
        <p:spPr>
          <a:xfrm>
            <a:off x="6089904" y="109728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7F7F8"/>
          </a:solidFill>
          <a:ln w="12700">
            <a:solidFill>
              <a:srgbClr val="F7F7F8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6089904" y="115214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1800" dirty="0"/>
          </a:p>
        </p:txBody>
      </p:sp>
      <p:pic>
        <p:nvPicPr>
          <p:cNvPr id="21" name="Image 2" descr="C:\tmp\c207\assets\n_n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170" y="1452268"/>
            <a:ext cx="219227" cy="265633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181344" y="181965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as “NOT A”</a:t>
            </a:r>
            <a:endParaRPr lang="en-US" sz="1100" dirty="0"/>
          </a:p>
        </p:txBody>
      </p:sp>
      <p:sp>
        <p:nvSpPr>
          <p:cNvPr id="23" name="Text 15"/>
          <p:cNvSpPr txBox="1"/>
          <p:nvPr/>
        </p:nvSpPr>
        <p:spPr>
          <a:xfrm>
            <a:off x="6181344" y="20665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the value it is given</a:t>
            </a:r>
            <a:endParaRPr lang="en-US" sz="1300" dirty="0"/>
          </a:p>
        </p:txBody>
      </p:sp>
      <p:graphicFrame>
        <p:nvGraphicFramePr>
          <p:cNvPr id="1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21424" y="2487168"/>
          <a:ext cx="1188720" cy="740664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4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Shape 16"/>
          <p:cNvSpPr/>
          <p:nvPr/>
        </p:nvSpPr>
        <p:spPr>
          <a:xfrm>
            <a:off x="457200" y="3858768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26" name="Text 17"/>
          <p:cNvSpPr txBox="1"/>
          <p:nvPr/>
        </p:nvSpPr>
        <p:spPr>
          <a:xfrm>
            <a:off x="621792" y="394106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 BACK TO CLASS 1</a:t>
            </a:r>
            <a:endParaRPr lang="en-US" sz="900" dirty="0"/>
          </a:p>
        </p:txBody>
      </p:sp>
      <p:sp>
        <p:nvSpPr>
          <p:cNvPr id="27" name="Text 18"/>
          <p:cNvSpPr txBox="1"/>
          <p:nvPr/>
        </p:nvSpPr>
        <p:spPr>
          <a:xfrm>
            <a:off x="621792" y="4133088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Boolean operation is exactly what one of the gates already does: AND → AND gate, OR → OR gate, NOT → NOT gate.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OPERATIONS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Careful: “+” Means OR, Not Addition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" y="11338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1316736"/>
            <a:ext cx="7900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Boolean algebra “+” means OR and “ · ” means AND. They are logic operations, not arithmetic.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196596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7F7F8"/>
          </a:solidFill>
          <a:ln w="12700">
            <a:solidFill>
              <a:srgbClr val="F7F7F8"/>
            </a:solidFill>
            <a:prstDash val="solid"/>
          </a:ln>
        </p:spPr>
      </p:sp>
      <p:pic>
        <p:nvPicPr>
          <p:cNvPr id="11" name="Image 0" descr="C:\tmp\c207\assets\n_11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328" y="2246571"/>
            <a:ext cx="1829105" cy="34975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21792" y="274320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1 OR 1 = 1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663440" y="196596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4F5F6"/>
          </a:solidFill>
          <a:ln w="12700">
            <a:solidFill>
              <a:srgbClr val="F4F5F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828032" y="20482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4828032" y="2286000"/>
            <a:ext cx="3694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Arithmetic:  1 + 1 = 2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Boolean:  1 + 1 = 1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57200" y="32461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4F5F6"/>
          </a:solidFill>
          <a:ln w="12700">
            <a:solidFill>
              <a:srgbClr val="F4F5F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21792" y="332841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OF OPERATIONS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621792" y="3529584"/>
            <a:ext cx="7900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is applied first, then AND ( · ), then OR ( + ) — exactly as × comes before + in ordinary arithmetic. Use brackets whenever you want a different order.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57200" y="4206240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57200" y="42062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Boolean result is always 0 or 1 — never 2.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EXPRESSIONS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Boolean Expression?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" y="11338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TERM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1316736"/>
            <a:ext cx="7900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expression — a combination of Boolean variables and Boolean operations that produces a Boolean result (0 or 1).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192024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F7F7F8"/>
          </a:solidFill>
          <a:ln w="12700">
            <a:solidFill>
              <a:srgbClr val="F7F7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1792" y="200253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900" dirty="0"/>
          </a:p>
        </p:txBody>
      </p:sp>
      <p:pic>
        <p:nvPicPr>
          <p:cNvPr id="12" name="Image 0" descr="C:\tmp\c207\assets\n_and_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313847"/>
            <a:ext cx="786384" cy="165811"/>
          </a:xfrm>
          <a:prstGeom prst="rect">
            <a:avLst/>
          </a:prstGeom>
        </p:spPr>
      </p:pic>
      <p:pic>
        <p:nvPicPr>
          <p:cNvPr id="13" name="Image 1" descr="C:\tmp\c207\assets\n_or_e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652175"/>
            <a:ext cx="891235" cy="165811"/>
          </a:xfrm>
          <a:prstGeom prst="rect">
            <a:avLst/>
          </a:prstGeom>
        </p:spPr>
      </p:pic>
      <p:pic>
        <p:nvPicPr>
          <p:cNvPr id="14" name="Image 2" descr="C:\tmp\c207\assets\n_not_eq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952707"/>
            <a:ext cx="516941" cy="202387"/>
          </a:xfrm>
          <a:prstGeom prst="rect">
            <a:avLst/>
          </a:prstGeom>
        </p:spPr>
      </p:pic>
      <p:pic>
        <p:nvPicPr>
          <p:cNvPr id="15" name="Image 3" descr="C:\tmp\c207\assets\n_ab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325173"/>
            <a:ext cx="1188720" cy="169469"/>
          </a:xfrm>
          <a:prstGeom prst="rect">
            <a:avLst/>
          </a:prstGeom>
        </p:spPr>
      </p:pic>
      <p:pic>
        <p:nvPicPr>
          <p:cNvPr id="16" name="Image 4" descr="C:\tmp\c207\assets\n_abnot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3624487"/>
            <a:ext cx="1191158" cy="207264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4663440" y="192024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F4F5F6"/>
          </a:solidFill>
          <a:ln w="12700">
            <a:solidFill>
              <a:srgbClr val="F4F5F6"/>
            </a:solidFill>
            <a:prstDash val="solid"/>
          </a:ln>
        </p:spPr>
      </p:sp>
      <p:sp>
        <p:nvSpPr>
          <p:cNvPr id="18" name="Text 10"/>
          <p:cNvSpPr txBox="1"/>
          <p:nvPr/>
        </p:nvSpPr>
        <p:spPr>
          <a:xfrm>
            <a:off x="4828032" y="200253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ONE</a:t>
            </a:r>
            <a:endParaRPr lang="en-US" sz="900" dirty="0"/>
          </a:p>
        </p:txBody>
      </p:sp>
      <p:pic>
        <p:nvPicPr>
          <p:cNvPr id="19" name="Image 5" descr="C:\tmp\c207\assets\n_ab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6465" y="2326929"/>
            <a:ext cx="1337310" cy="190652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4892040" y="2743200"/>
            <a:ext cx="256032" cy="256032"/>
          </a:xfrm>
          <a:prstGeom prst="ellipse">
            <a:avLst/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21" name="Text 12"/>
          <p:cNvSpPr txBox="1"/>
          <p:nvPr/>
        </p:nvSpPr>
        <p:spPr>
          <a:xfrm>
            <a:off x="4892040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13"/>
          <p:cNvSpPr txBox="1"/>
          <p:nvPr/>
        </p:nvSpPr>
        <p:spPr>
          <a:xfrm>
            <a:off x="5276088" y="27249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do A AND B</a:t>
            </a:r>
            <a:endParaRPr lang="en-US" sz="1400" dirty="0"/>
          </a:p>
        </p:txBody>
      </p:sp>
      <p:sp>
        <p:nvSpPr>
          <p:cNvPr id="23" name="Shape 14"/>
          <p:cNvSpPr/>
          <p:nvPr/>
        </p:nvSpPr>
        <p:spPr>
          <a:xfrm>
            <a:off x="4892040" y="3145536"/>
            <a:ext cx="256032" cy="256032"/>
          </a:xfrm>
          <a:prstGeom prst="ellipse">
            <a:avLst/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24" name="Text 15"/>
          <p:cNvSpPr txBox="1"/>
          <p:nvPr/>
        </p:nvSpPr>
        <p:spPr>
          <a:xfrm>
            <a:off x="4892040" y="3145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16"/>
          <p:cNvSpPr txBox="1"/>
          <p:nvPr/>
        </p:nvSpPr>
        <p:spPr>
          <a:xfrm>
            <a:off x="5276088" y="31272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OR that result with C</a:t>
            </a:r>
            <a:endParaRPr lang="en-US" sz="1400" dirty="0"/>
          </a:p>
        </p:txBody>
      </p:sp>
      <p:sp>
        <p:nvSpPr>
          <p:cNvPr id="26" name="Text 17"/>
          <p:cNvSpPr txBox="1"/>
          <p:nvPr/>
        </p:nvSpPr>
        <p:spPr>
          <a:xfrm>
            <a:off x="4828032" y="354787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· ” is done before “ + ”, just like × before +.</a:t>
            </a:r>
            <a:endParaRPr lang="en-US" sz="1250" dirty="0"/>
          </a:p>
        </p:txBody>
      </p:sp>
      <p:sp>
        <p:nvSpPr>
          <p:cNvPr id="27" name="Shape 18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expression says exactly how the output is built from the inputs.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→ CIRCUIT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Expression to a Circuit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241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operation in the expression becomes one gate in the circuit.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7F7F8"/>
          </a:solidFill>
          <a:ln w="12700">
            <a:solidFill>
              <a:srgbClr val="F7F7F8"/>
            </a:solidFill>
            <a:prstDash val="solid"/>
          </a:ln>
        </p:spPr>
      </p:sp>
      <p:pic>
        <p:nvPicPr>
          <p:cNvPr id="9" name="Image 0" descr="C:\tmp\c207\assets\n_and_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739" y="1690963"/>
            <a:ext cx="884682" cy="186538"/>
          </a:xfrm>
          <a:prstGeom prst="rect">
            <a:avLst/>
          </a:prstGeom>
        </p:spPr>
      </p:pic>
      <p:pic>
        <p:nvPicPr>
          <p:cNvPr id="10" name="Image 1" descr="C:\tmp\c207\assets\c_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2048256"/>
            <a:ext cx="1792224" cy="8412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3063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AND gate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3273552" y="146304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7F7F8"/>
          </a:solidFill>
          <a:ln w="12700">
            <a:solidFill>
              <a:srgbClr val="F7F7F8"/>
            </a:solidFill>
            <a:prstDash val="solid"/>
          </a:ln>
        </p:spPr>
      </p:sp>
      <p:pic>
        <p:nvPicPr>
          <p:cNvPr id="13" name="Image 2" descr="C:\tmp\c207\assets\n_or_eq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8112" y="1690963"/>
            <a:ext cx="1002640" cy="186538"/>
          </a:xfrm>
          <a:prstGeom prst="rect">
            <a:avLst/>
          </a:prstGeom>
        </p:spPr>
      </p:pic>
      <p:pic>
        <p:nvPicPr>
          <p:cNvPr id="14" name="Image 3" descr="C:\tmp\c207\assets\c_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3320" y="2048256"/>
            <a:ext cx="1792224" cy="841248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3364992" y="3063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gate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6089904" y="146304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7F7F8"/>
          </a:solidFill>
          <a:ln w="12700">
            <a:solidFill>
              <a:srgbClr val="F7F7F8"/>
            </a:solidFill>
            <a:prstDash val="solid"/>
          </a:ln>
        </p:spPr>
      </p:sp>
      <p:pic>
        <p:nvPicPr>
          <p:cNvPr id="17" name="Image 4" descr="C:\tmp\c207\assets\n_not_eq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5005" y="1648444"/>
            <a:ext cx="581558" cy="227686"/>
          </a:xfrm>
          <a:prstGeom prst="rect">
            <a:avLst/>
          </a:prstGeom>
        </p:spPr>
      </p:pic>
      <p:pic>
        <p:nvPicPr>
          <p:cNvPr id="18" name="Image 5" descr="C:\tmp\c207\assets\c_no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1958" y="2157984"/>
            <a:ext cx="1787652" cy="621792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6181344" y="3063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NOT gate</a:t>
            </a:r>
            <a:endParaRPr lang="en-US" sz="1300" dirty="0"/>
          </a:p>
        </p:txBody>
      </p:sp>
      <p:sp>
        <p:nvSpPr>
          <p:cNvPr id="20" name="Shape 11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21" name="Text 12"/>
          <p:cNvSpPr txBox="1"/>
          <p:nvPr/>
        </p:nvSpPr>
        <p:spPr>
          <a:xfrm>
            <a:off x="621792" y="378561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900" dirty="0"/>
          </a:p>
        </p:txBody>
      </p:sp>
      <p:sp>
        <p:nvSpPr>
          <p:cNvPr id="22" name="Text 13"/>
          <p:cNvSpPr txBox="1"/>
          <p:nvPr/>
        </p:nvSpPr>
        <p:spPr>
          <a:xfrm>
            <a:off x="621792" y="3986784"/>
            <a:ext cx="7900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operations in the expression, draw one gate for each of them, then connect the gates in the order the expression is evaluated.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→ CIRCUIT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Circuit Step by Step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26</a:t>
            </a:r>
            <a:endParaRPr lang="en-US" sz="900" dirty="0"/>
          </a:p>
        </p:txBody>
      </p:sp>
      <p:pic>
        <p:nvPicPr>
          <p:cNvPr id="7" name="Image 0" descr="C:\tmp\c207\assets\n_a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00084"/>
            <a:ext cx="1485900" cy="21183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1554480"/>
            <a:ext cx="3017520" cy="868680"/>
          </a:xfrm>
          <a:prstGeom prst="roundRect">
            <a:avLst>
              <a:gd name="adj" fmla="val 8421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21792" y="163677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621792" y="1828800"/>
            <a:ext cx="2688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with B — that gives A · B.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57200" y="2560320"/>
            <a:ext cx="3017520" cy="868680"/>
          </a:xfrm>
          <a:prstGeom prst="roundRect">
            <a:avLst>
              <a:gd name="adj" fmla="val 8421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21792" y="264261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621792" y="2834640"/>
            <a:ext cx="2688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that result with C. That gives the whole expression.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35478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AND is evaluated first, so the AND gate comes first in the circuit.</a:t>
            </a:r>
            <a:endParaRPr lang="en-US" sz="1250" dirty="0"/>
          </a:p>
        </p:txBody>
      </p:sp>
      <p:pic>
        <p:nvPicPr>
          <p:cNvPr id="15" name="Image 1" descr="C:\tmp\c207\assets\c_ab_o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4014" y="1457325"/>
            <a:ext cx="3890772" cy="184023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572000" y="3474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for F = A · B + C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57200" y="406908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operations → two gates. The AND gate's output becomes an input of the OR gate.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→ CIRCUIT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NOT Gate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26</a:t>
            </a:r>
            <a:endParaRPr lang="en-US" sz="900" dirty="0"/>
          </a:p>
        </p:txBody>
      </p:sp>
      <p:pic>
        <p:nvPicPr>
          <p:cNvPr id="7" name="Image 0" descr="C:\tmp\c207\assets\n_abnot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213" y="1140037"/>
            <a:ext cx="1340053" cy="2331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160020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21792" y="16824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CHANGED?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621792" y="1874520"/>
            <a:ext cx="2596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now has a bar over it. The bar means NOT C, so a NOT gate is placed on the C line before the OR gate.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2880360"/>
            <a:ext cx="2926080" cy="1097280"/>
          </a:xfrm>
          <a:prstGeom prst="roundRect">
            <a:avLst>
              <a:gd name="adj" fmla="val 6667"/>
            </a:avLst>
          </a:prstGeom>
          <a:solidFill>
            <a:srgbClr val="F4F5F6"/>
          </a:solidFill>
          <a:ln w="12700">
            <a:solidFill>
              <a:srgbClr val="F4F5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21792" y="29626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AS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621792" y="3154680"/>
            <a:ext cx="25968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 first, then A AND B, then OR the two results together.</a:t>
            </a:r>
            <a:endParaRPr lang="en-US" sz="1300" dirty="0"/>
          </a:p>
        </p:txBody>
      </p:sp>
      <p:pic>
        <p:nvPicPr>
          <p:cNvPr id="14" name="Image 1" descr="C:\tmp\c207\assets\c_ab_or_not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9284" y="1323594"/>
            <a:ext cx="4550969" cy="201625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65760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AND gate, one NOT gate and one OR gate.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7200" y="406908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 over a variable always becomes a NOT gate in the circuit.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→ TRUTH TABLE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Truth Table for a Whole Expression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Class 1 we built truth tables for single gates. Now we build one for a complete expression.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2560320" cy="146304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= A +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4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Image 0" descr="C:\tmp\c207\assets\c_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41" y="3256407"/>
            <a:ext cx="1904238" cy="89382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57200" y="4206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 gate and the expression A + B give exactly the same table.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4663440" y="141732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6" name="Text 7"/>
          <p:cNvSpPr txBox="1"/>
          <p:nvPr/>
        </p:nvSpPr>
        <p:spPr>
          <a:xfrm>
            <a:off x="4828032" y="149961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ROWS?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4828032" y="1700784"/>
            <a:ext cx="3694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 input variables the table has 2ⁿ rows — one row for every possible combination of inputs.</a:t>
            </a:r>
            <a:endParaRPr lang="en-US" sz="14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2788920"/>
          <a:ext cx="2743200" cy="10972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 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(2ⁿ)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4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2¹ =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2² =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2³ = 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 9"/>
          <p:cNvSpPr txBox="1"/>
          <p:nvPr/>
        </p:nvSpPr>
        <p:spPr>
          <a:xfrm>
            <a:off x="4828032" y="3959352"/>
            <a:ext cx="3694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00, 01, 10, 11 … like counting in binary, so no row is missed or repeated.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→ TRUTH TABLE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Intermediate Columns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26</a:t>
            </a:r>
            <a:endParaRPr lang="en-US" sz="900" dirty="0"/>
          </a:p>
        </p:txBody>
      </p:sp>
      <p:pic>
        <p:nvPicPr>
          <p:cNvPr id="7" name="Image 0" descr="C:\tmp\c207\assets\n_a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79547"/>
            <a:ext cx="1263015" cy="18006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137160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21792" y="14538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EXTRA COLUMN?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621792" y="1645920"/>
            <a:ext cx="3511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try to work out F in one jump. First find A · B, then OR it with C.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57200" y="2414016"/>
            <a:ext cx="256032" cy="256032"/>
          </a:xfrm>
          <a:prstGeom prst="ellipse">
            <a:avLst/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7200" y="2414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41248" y="2395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A, B and C — all 8 combinations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57200" y="2816352"/>
            <a:ext cx="256032" cy="256032"/>
          </a:xfrm>
          <a:prstGeom prst="ellipse">
            <a:avLst/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57200" y="2816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841248" y="27980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A · B in each row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57200" y="3218688"/>
            <a:ext cx="256032" cy="256032"/>
          </a:xfrm>
          <a:prstGeom prst="ellipse">
            <a:avLst/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57200" y="3218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841248" y="3200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F = (A · B) + C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3675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variables → 2³ = 8 rows.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39502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 column turns one hard step into two easy ones.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143000"/>
          <a:ext cx="3749040" cy="246888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4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= A · B + 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4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" name="Text 18"/>
          <p:cNvSpPr txBox="1"/>
          <p:nvPr/>
        </p:nvSpPr>
        <p:spPr>
          <a:xfrm>
            <a:off x="4754880" y="3749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row: A · B is 1, so F is 1 even though C = 0.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Representations of the Same Logic Function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26</a:t>
            </a:r>
            <a:endParaRPr lang="en-US" sz="900" dirty="0"/>
          </a:p>
        </p:txBody>
      </p:sp>
      <p:pic>
        <p:nvPicPr>
          <p:cNvPr id="7" name="Image 0" descr="C:\tmp\c207\assets\n_a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6198" y="1087142"/>
            <a:ext cx="1411605" cy="2012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146304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F7F7F8"/>
          </a:solidFill>
          <a:ln w="12700">
            <a:solidFill>
              <a:srgbClr val="F7F7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57200" y="15361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EXPRESSION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36118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mathematics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310128" y="146304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F7F7F8"/>
          </a:solidFill>
          <a:ln w="12700">
            <a:solidFill>
              <a:srgbClr val="F7F7F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310128" y="15361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CIRCUIT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3310128" y="36118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hardware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172200" y="146304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F7F7F8"/>
          </a:solidFill>
          <a:ln w="12700">
            <a:solidFill>
              <a:srgbClr val="F7F7F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172200" y="15361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36118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behaviour</a:t>
            </a:r>
            <a:endParaRPr lang="en-US" sz="1250" dirty="0"/>
          </a:p>
        </p:txBody>
      </p:sp>
      <p:pic>
        <p:nvPicPr>
          <p:cNvPr id="17" name="Image 1" descr="C:\tmp\c207\assets\n_abc_pl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0244" y="2499116"/>
            <a:ext cx="1048512" cy="211836"/>
          </a:xfrm>
          <a:prstGeom prst="rect">
            <a:avLst/>
          </a:prstGeom>
        </p:spPr>
      </p:pic>
      <p:pic>
        <p:nvPicPr>
          <p:cNvPr id="18" name="Image 2" descr="C:\tmp\c207\assets\c_ab_or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4778" y="2093976"/>
            <a:ext cx="2165299" cy="1024128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0548" y="1810512"/>
          <a:ext cx="1517904" cy="1728216"/>
        </p:xfrm>
        <a:graphic>
          <a:graphicData uri="http://schemas.openxmlformats.org/drawingml/2006/table">
            <a:tbl>
              <a:tblPr/>
              <a:tblGrid>
                <a:gridCol w="347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20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4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Text 13"/>
          <p:cNvSpPr txBox="1"/>
          <p:nvPr/>
        </p:nvSpPr>
        <p:spPr>
          <a:xfrm>
            <a:off x="3127248" y="2450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5989320" y="2450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800" dirty="0"/>
          </a:p>
        </p:txBody>
      </p:sp>
      <p:sp>
        <p:nvSpPr>
          <p:cNvPr id="22" name="Shape 15"/>
          <p:cNvSpPr/>
          <p:nvPr/>
        </p:nvSpPr>
        <p:spPr>
          <a:xfrm>
            <a:off x="457200" y="406908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different views — one and the same logic function. You can move between them in any direction.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SIMPLIFY?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Simplify Boolean Expressions?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this expression — the same term is written twice.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4F5F6"/>
          </a:solidFill>
          <a:ln w="12700">
            <a:solidFill>
              <a:srgbClr val="F4F5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" y="14538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pic>
        <p:nvPicPr>
          <p:cNvPr id="10" name="Image 0" descr="C:\tmp\c207\assets\w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349" y="1718395"/>
            <a:ext cx="1639062" cy="186538"/>
          </a:xfrm>
          <a:prstGeom prst="rect">
            <a:avLst/>
          </a:prstGeom>
        </p:spPr>
      </p:pic>
      <p:pic>
        <p:nvPicPr>
          <p:cNvPr id="11" name="Image 1" descr="C:\tmp\c207\assets\c_abab_bef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368" y="1982876"/>
            <a:ext cx="2713025" cy="161208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21792" y="3611880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AND gates + 1 OR gate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4663440" y="137160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4828032" y="14538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pic>
        <p:nvPicPr>
          <p:cNvPr id="15" name="Image 2" descr="C:\tmp\c207\assets\w_1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2779" y="1718395"/>
            <a:ext cx="884682" cy="186538"/>
          </a:xfrm>
          <a:prstGeom prst="rect">
            <a:avLst/>
          </a:prstGeom>
        </p:spPr>
      </p:pic>
      <p:pic>
        <p:nvPicPr>
          <p:cNvPr id="16" name="Image 3" descr="C:\tmp\c207\assets\c_ab_af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0987" y="2106549"/>
            <a:ext cx="2128266" cy="99898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4828032" y="3108960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AND gate</a:t>
            </a:r>
            <a:endParaRPr lang="en-US" sz="1250" dirty="0"/>
          </a:p>
        </p:txBody>
      </p:sp>
      <p:sp>
        <p:nvSpPr>
          <p:cNvPr id="18" name="Text 11"/>
          <p:cNvSpPr txBox="1"/>
          <p:nvPr/>
        </p:nvSpPr>
        <p:spPr>
          <a:xfrm>
            <a:off x="4828032" y="3401568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Law: A + A = A</a:t>
            </a:r>
            <a:endParaRPr lang="en-US" sz="1250" dirty="0"/>
          </a:p>
        </p:txBody>
      </p:sp>
      <p:sp>
        <p:nvSpPr>
          <p:cNvPr id="19" name="Text 12"/>
          <p:cNvSpPr txBox="1"/>
          <p:nvPr/>
        </p:nvSpPr>
        <p:spPr>
          <a:xfrm>
            <a:off x="4828032" y="3657600"/>
            <a:ext cx="3694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gates can mean less hardware, less area and less delay.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expressions can describe the same logic function — but one of them may need a simpler circuit.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LAWS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Algebra Laws — Part 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laws are tools. We use them to rewrite an expression into a simpler one.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32588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" y="14081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LAW</a:t>
            </a:r>
            <a:endParaRPr lang="en-US" sz="900" dirty="0"/>
          </a:p>
        </p:txBody>
      </p:sp>
      <p:pic>
        <p:nvPicPr>
          <p:cNvPr id="10" name="Image 0" descr="C:\tmp\c207\assets\l_i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30319"/>
            <a:ext cx="860679" cy="158877"/>
          </a:xfrm>
          <a:prstGeom prst="rect">
            <a:avLst/>
          </a:prstGeom>
        </p:spPr>
      </p:pic>
      <p:pic>
        <p:nvPicPr>
          <p:cNvPr id="11" name="Image 1" descr="C:\tmp\c207\assets\l_id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026356"/>
            <a:ext cx="762381" cy="1554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697480" y="160020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in an OR and 1 in an AND change nothing.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4663440" y="132588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4828032" y="14081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LAW</a:t>
            </a:r>
            <a:endParaRPr lang="en-US" sz="900" dirty="0"/>
          </a:p>
        </p:txBody>
      </p:sp>
      <p:pic>
        <p:nvPicPr>
          <p:cNvPr id="15" name="Image 2" descr="C:\tmp\c207\assets\l_nu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733748"/>
            <a:ext cx="846963" cy="155448"/>
          </a:xfrm>
          <a:prstGeom prst="rect">
            <a:avLst/>
          </a:prstGeom>
        </p:spPr>
      </p:pic>
      <p:pic>
        <p:nvPicPr>
          <p:cNvPr id="16" name="Image 3" descr="C:\tmp\c207\assets\l_nu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022927"/>
            <a:ext cx="753237" cy="158877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903720" y="160020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an OR and 0 in an AND decide the result on their own.</a:t>
            </a:r>
            <a:endParaRPr lang="en-US" sz="1150" dirty="0"/>
          </a:p>
        </p:txBody>
      </p:sp>
      <p:sp>
        <p:nvSpPr>
          <p:cNvPr id="18" name="Shape 11"/>
          <p:cNvSpPr/>
          <p:nvPr/>
        </p:nvSpPr>
        <p:spPr>
          <a:xfrm>
            <a:off x="457200" y="237744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621792" y="245973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LAW</a:t>
            </a:r>
            <a:endParaRPr lang="en-US" sz="900" dirty="0"/>
          </a:p>
        </p:txBody>
      </p:sp>
      <p:pic>
        <p:nvPicPr>
          <p:cNvPr id="20" name="Image 4" descr="C:\tmp\c207\assets\l_idm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786451"/>
            <a:ext cx="869823" cy="154305"/>
          </a:xfrm>
          <a:prstGeom prst="rect">
            <a:avLst/>
          </a:prstGeom>
        </p:spPr>
      </p:pic>
      <p:pic>
        <p:nvPicPr>
          <p:cNvPr id="21" name="Image 5" descr="C:\tmp\c207\assets\l_idm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079059"/>
            <a:ext cx="771525" cy="154305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2697480" y="265176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a term adds nothing new.</a:t>
            </a:r>
            <a:endParaRPr lang="en-US" sz="1150" dirty="0"/>
          </a:p>
        </p:txBody>
      </p:sp>
      <p:sp>
        <p:nvSpPr>
          <p:cNvPr id="23" name="Shape 14"/>
          <p:cNvSpPr/>
          <p:nvPr/>
        </p:nvSpPr>
        <p:spPr>
          <a:xfrm>
            <a:off x="4663440" y="237744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24" name="Text 15"/>
          <p:cNvSpPr txBox="1"/>
          <p:nvPr/>
        </p:nvSpPr>
        <p:spPr>
          <a:xfrm>
            <a:off x="4828032" y="245973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LAW</a:t>
            </a:r>
            <a:endParaRPr lang="en-US" sz="900" dirty="0"/>
          </a:p>
        </p:txBody>
      </p:sp>
      <p:pic>
        <p:nvPicPr>
          <p:cNvPr id="25" name="Image 6" descr="C:\tmp\c207\assets\l_cp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2749875"/>
            <a:ext cx="856107" cy="189738"/>
          </a:xfrm>
          <a:prstGeom prst="rect">
            <a:avLst/>
          </a:prstGeom>
        </p:spPr>
      </p:pic>
      <p:pic>
        <p:nvPicPr>
          <p:cNvPr id="26" name="Image 7" descr="C:\tmp\c207\assets\l_cp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2040" y="3041340"/>
            <a:ext cx="762381" cy="190881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6903720" y="265176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and its opposite cover everything, or nothing.</a:t>
            </a:r>
            <a:endParaRPr lang="en-US" sz="1150" dirty="0"/>
          </a:p>
        </p:txBody>
      </p:sp>
      <p:sp>
        <p:nvSpPr>
          <p:cNvPr id="28" name="Shape 17"/>
          <p:cNvSpPr/>
          <p:nvPr/>
        </p:nvSpPr>
        <p:spPr>
          <a:xfrm>
            <a:off x="457200" y="342900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29" name="Text 18"/>
          <p:cNvSpPr txBox="1"/>
          <p:nvPr/>
        </p:nvSpPr>
        <p:spPr>
          <a:xfrm>
            <a:off x="621792" y="351129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INVOLUTION LAW</a:t>
            </a:r>
            <a:endParaRPr lang="en-US" sz="900" dirty="0"/>
          </a:p>
        </p:txBody>
      </p:sp>
      <p:pic>
        <p:nvPicPr>
          <p:cNvPr id="30" name="Image 8" descr="C:\tmp\c207\assets\l_inv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753429"/>
            <a:ext cx="506349" cy="236601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2697480" y="370332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NOTs cancel each other out.</a:t>
            </a:r>
            <a:endParaRPr lang="en-US" sz="1150" dirty="0"/>
          </a:p>
        </p:txBody>
      </p:sp>
      <p:sp>
        <p:nvSpPr>
          <p:cNvPr id="32" name="Shape 20"/>
          <p:cNvSpPr/>
          <p:nvPr/>
        </p:nvSpPr>
        <p:spPr>
          <a:xfrm>
            <a:off x="4663440" y="342900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4F5F6"/>
          </a:solidFill>
          <a:ln w="12700">
            <a:solidFill>
              <a:srgbClr val="F4F5F6"/>
            </a:solidFill>
            <a:prstDash val="solid"/>
          </a:ln>
        </p:spPr>
      </p:sp>
      <p:sp>
        <p:nvSpPr>
          <p:cNvPr id="33" name="Text 21"/>
          <p:cNvSpPr txBox="1"/>
          <p:nvPr/>
        </p:nvSpPr>
        <p:spPr>
          <a:xfrm>
            <a:off x="4828032" y="35112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THEM</a:t>
            </a:r>
            <a:endParaRPr lang="en-US" sz="900" dirty="0"/>
          </a:p>
        </p:txBody>
      </p:sp>
      <p:sp>
        <p:nvSpPr>
          <p:cNvPr id="34" name="Text 22"/>
          <p:cNvSpPr txBox="1"/>
          <p:nvPr/>
        </p:nvSpPr>
        <p:spPr>
          <a:xfrm>
            <a:off x="4828032" y="3712464"/>
            <a:ext cx="3694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have to memorise these. Learn to recognise the pattern, then look the law up while you simplify.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LAWS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Algebra Laws — Part 2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laws let us re-order, re-group and factor an expression.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32588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" y="14081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COMMUTATIVE LAW</a:t>
            </a:r>
            <a:endParaRPr lang="en-US" sz="900" dirty="0"/>
          </a:p>
        </p:txBody>
      </p:sp>
      <p:pic>
        <p:nvPicPr>
          <p:cNvPr id="10" name="Image 0" descr="C:\tmp\c207\assets\l_cm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38866"/>
            <a:ext cx="1153211" cy="145085"/>
          </a:xfrm>
          <a:prstGeom prst="rect">
            <a:avLst/>
          </a:prstGeom>
        </p:spPr>
      </p:pic>
      <p:pic>
        <p:nvPicPr>
          <p:cNvPr id="11" name="Image 1" descr="C:\tmp\c207\assets\l_cm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031474"/>
            <a:ext cx="967588" cy="14508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697480" y="158191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of the terms does not matter.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663440" y="132588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4828032" y="14081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ASSOCIATIVE LAW</a:t>
            </a:r>
            <a:endParaRPr lang="en-US" sz="900" dirty="0"/>
          </a:p>
        </p:txBody>
      </p:sp>
      <p:pic>
        <p:nvPicPr>
          <p:cNvPr id="15" name="Image 2" descr="C:\tmp\c207\assets\l_as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743786"/>
            <a:ext cx="1783080" cy="147754"/>
          </a:xfrm>
          <a:prstGeom prst="rect">
            <a:avLst/>
          </a:prstGeom>
        </p:spPr>
      </p:pic>
      <p:pic>
        <p:nvPicPr>
          <p:cNvPr id="16" name="Image 3" descr="C:\tmp\c207\assets\l_as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025073"/>
            <a:ext cx="1716481" cy="17282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903720" y="158191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grouping of the terms does not matter.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457200" y="237744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621792" y="245973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DISTRIBUTIVE LAW</a:t>
            </a:r>
            <a:endParaRPr lang="en-US" sz="900" dirty="0"/>
          </a:p>
        </p:txBody>
      </p:sp>
      <p:pic>
        <p:nvPicPr>
          <p:cNvPr id="20" name="Image 4" descr="C:\tmp\c207\assets\l_ds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794200"/>
            <a:ext cx="1783080" cy="150291"/>
          </a:xfrm>
          <a:prstGeom prst="rect">
            <a:avLst/>
          </a:prstGeom>
        </p:spPr>
      </p:pic>
      <p:pic>
        <p:nvPicPr>
          <p:cNvPr id="21" name="Image 5" descr="C:\tmp\c207\assets\l_ds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093292"/>
            <a:ext cx="1783080" cy="135934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2697480" y="263347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out, or factor back in. Note the second form — it has no arithmetic twin.</a:t>
            </a:r>
            <a:endParaRPr lang="en-US" sz="1100" dirty="0"/>
          </a:p>
        </p:txBody>
      </p:sp>
      <p:sp>
        <p:nvSpPr>
          <p:cNvPr id="23" name="Shape 14"/>
          <p:cNvSpPr/>
          <p:nvPr/>
        </p:nvSpPr>
        <p:spPr>
          <a:xfrm>
            <a:off x="4663440" y="237744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24" name="Text 15"/>
          <p:cNvSpPr txBox="1"/>
          <p:nvPr/>
        </p:nvSpPr>
        <p:spPr>
          <a:xfrm>
            <a:off x="4828032" y="245973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 LAW</a:t>
            </a:r>
            <a:endParaRPr lang="en-US" sz="900" dirty="0"/>
          </a:p>
        </p:txBody>
      </p:sp>
      <p:pic>
        <p:nvPicPr>
          <p:cNvPr id="25" name="Image 6" descr="C:\tmp\c207\assets\l_ab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2790426"/>
            <a:ext cx="1060399" cy="145085"/>
          </a:xfrm>
          <a:prstGeom prst="rect">
            <a:avLst/>
          </a:prstGeom>
        </p:spPr>
      </p:pic>
      <p:pic>
        <p:nvPicPr>
          <p:cNvPr id="26" name="Image 7" descr="C:\tmp\c207\assets\l_ab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2040" y="3076633"/>
            <a:ext cx="1199083" cy="172822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6903720" y="263347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term already covers the smaller one.</a:t>
            </a:r>
            <a:endParaRPr lang="en-US" sz="1100" dirty="0"/>
          </a:p>
        </p:txBody>
      </p:sp>
      <p:sp>
        <p:nvSpPr>
          <p:cNvPr id="28" name="Shape 17"/>
          <p:cNvSpPr/>
          <p:nvPr/>
        </p:nvSpPr>
        <p:spPr>
          <a:xfrm>
            <a:off x="457200" y="342900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4F5F6"/>
          </a:solidFill>
          <a:ln w="12700">
            <a:solidFill>
              <a:srgbClr val="F4F5F6"/>
            </a:solidFill>
            <a:prstDash val="solid"/>
          </a:ln>
        </p:spPr>
      </p:sp>
      <p:sp>
        <p:nvSpPr>
          <p:cNvPr id="29" name="Text 18"/>
          <p:cNvSpPr txBox="1"/>
          <p:nvPr/>
        </p:nvSpPr>
        <p:spPr>
          <a:xfrm>
            <a:off x="621792" y="35112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USED TODAY</a:t>
            </a:r>
            <a:endParaRPr lang="en-US" sz="900" dirty="0"/>
          </a:p>
        </p:txBody>
      </p:sp>
      <p:sp>
        <p:nvSpPr>
          <p:cNvPr id="30" name="Text 19"/>
          <p:cNvSpPr txBox="1"/>
          <p:nvPr/>
        </p:nvSpPr>
        <p:spPr>
          <a:xfrm>
            <a:off x="621792" y="3712464"/>
            <a:ext cx="3694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Absorption, Complement, Identity and Distributive are the four laws that do most of the work when we simplify.</a:t>
            </a:r>
            <a:endParaRPr lang="en-US" sz="1250" dirty="0"/>
          </a:p>
        </p:txBody>
      </p:sp>
      <p:sp>
        <p:nvSpPr>
          <p:cNvPr id="31" name="Shape 20"/>
          <p:cNvSpPr/>
          <p:nvPr/>
        </p:nvSpPr>
        <p:spPr>
          <a:xfrm>
            <a:off x="4663440" y="342900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4F5F6"/>
          </a:solidFill>
          <a:ln w="12700">
            <a:solidFill>
              <a:srgbClr val="F4F5F6"/>
            </a:solidFill>
            <a:prstDash val="solid"/>
          </a:ln>
        </p:spPr>
      </p:sp>
      <p:sp>
        <p:nvSpPr>
          <p:cNvPr id="32" name="Text 21"/>
          <p:cNvSpPr txBox="1"/>
          <p:nvPr/>
        </p:nvSpPr>
        <p:spPr>
          <a:xfrm>
            <a:off x="4828032" y="35112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900" dirty="0"/>
          </a:p>
        </p:txBody>
      </p:sp>
      <p:sp>
        <p:nvSpPr>
          <p:cNvPr id="33" name="Text 22"/>
          <p:cNvSpPr txBox="1"/>
          <p:nvPr/>
        </p:nvSpPr>
        <p:spPr>
          <a:xfrm>
            <a:off x="4828032" y="3712464"/>
            <a:ext cx="3694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law is only a rewrite. The expression looks different afterwards, but the output for every input stays the same.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LAWS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a Law with a Truth Table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have to trust a law. If both sides give the same output in every row, the law is correct.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4023360" cy="2331720"/>
          </a:xfrm>
          <a:prstGeom prst="roundRect">
            <a:avLst>
              <a:gd name="adj" fmla="val 3137"/>
            </a:avLst>
          </a:prstGeom>
          <a:solidFill>
            <a:srgbClr val="F7F7F8"/>
          </a:solidFill>
          <a:ln w="12700">
            <a:solidFill>
              <a:srgbClr val="F7F7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" y="15544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LAW</a:t>
            </a:r>
            <a:endParaRPr lang="en-US" sz="900" dirty="0"/>
          </a:p>
        </p:txBody>
      </p:sp>
      <p:pic>
        <p:nvPicPr>
          <p:cNvPr id="10" name="Image 0" descr="C:\tmp\c207\assets\l_i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473" y="1824009"/>
            <a:ext cx="1032815" cy="190652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240280"/>
          <a:ext cx="2651760" cy="82296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4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621792" y="3200400"/>
            <a:ext cx="3694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column is identical to the A column, so A + 0 = A.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4663440" y="1463040"/>
            <a:ext cx="4023360" cy="2331720"/>
          </a:xfrm>
          <a:prstGeom prst="roundRect">
            <a:avLst>
              <a:gd name="adj" fmla="val 3137"/>
            </a:avLst>
          </a:prstGeom>
          <a:solidFill>
            <a:srgbClr val="F7F7F8"/>
          </a:solidFill>
          <a:ln w="12700">
            <a:solidFill>
              <a:srgbClr val="F7F7F8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4828032" y="15544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LAW</a:t>
            </a:r>
            <a:endParaRPr lang="en-US" sz="900" dirty="0"/>
          </a:p>
        </p:txBody>
      </p:sp>
      <p:pic>
        <p:nvPicPr>
          <p:cNvPr id="15" name="Image 1" descr="C:\tmp\c207\assets\l_id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691" y="1828123"/>
            <a:ext cx="914857" cy="186538"/>
          </a:xfrm>
          <a:prstGeom prst="rect">
            <a:avLst/>
          </a:prstGeom>
        </p:spPr>
      </p:pic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2240280"/>
          <a:ext cx="2651760" cy="82296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4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 10"/>
          <p:cNvSpPr txBox="1"/>
          <p:nvPr/>
        </p:nvSpPr>
        <p:spPr>
          <a:xfrm>
            <a:off x="4828032" y="3200400"/>
            <a:ext cx="3694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 the last column matches A, so A · 1 = A.</a:t>
            </a:r>
            <a:endParaRPr lang="en-US" sz="1250" dirty="0"/>
          </a:p>
        </p:txBody>
      </p:sp>
      <p:sp>
        <p:nvSpPr>
          <p:cNvPr id="6" name="Shape 11"/>
          <p:cNvSpPr/>
          <p:nvPr/>
        </p:nvSpPr>
        <p:spPr>
          <a:xfrm>
            <a:off x="457200" y="40233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output in every row means the same logic function. That is the whole proof.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MORGAN'S LAWS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Morgan's Laws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33272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" y="110642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1</a:t>
            </a:r>
            <a:endParaRPr lang="en-US" sz="900" dirty="0"/>
          </a:p>
        </p:txBody>
      </p:sp>
      <p:pic>
        <p:nvPicPr>
          <p:cNvPr id="9" name="Image 0" descr="C:\tmp\c207\assets\dm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149" y="1415296"/>
            <a:ext cx="1337462" cy="20360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663440" y="1033272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828032" y="110642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2</a:t>
            </a:r>
            <a:endParaRPr lang="en-US" sz="900" dirty="0"/>
          </a:p>
        </p:txBody>
      </p:sp>
      <p:pic>
        <p:nvPicPr>
          <p:cNvPr id="12" name="Image 1" descr="C:\tmp\c207\assets\dm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6389" y="1415296"/>
            <a:ext cx="1337462" cy="20360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57200" y="19385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TRUTH TABLE PROVES BOTH LAWS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36776" y="2157984"/>
          <a:ext cx="5870448" cy="1371600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4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4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4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4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5" name="Image 2" descr="C:\tmp\c207\assets\th_notab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7278" y="2200694"/>
            <a:ext cx="434340" cy="159068"/>
          </a:xfrm>
          <a:prstGeom prst="rect">
            <a:avLst/>
          </a:prstGeom>
        </p:spPr>
      </p:pic>
      <p:pic>
        <p:nvPicPr>
          <p:cNvPr id="16" name="Image 3" descr="C:\tmp\c207\assets\th_nanb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0924" y="2200694"/>
            <a:ext cx="352425" cy="159068"/>
          </a:xfrm>
          <a:prstGeom prst="rect">
            <a:avLst/>
          </a:prstGeom>
        </p:spPr>
      </p:pic>
      <p:pic>
        <p:nvPicPr>
          <p:cNvPr id="17" name="Image 4" descr="C:\tmp\c207\assets\th_notaandb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1979" y="2200694"/>
            <a:ext cx="352425" cy="159068"/>
          </a:xfrm>
          <a:prstGeom prst="rect">
            <a:avLst/>
          </a:prstGeom>
        </p:spPr>
      </p:pic>
      <p:pic>
        <p:nvPicPr>
          <p:cNvPr id="18" name="Image 5" descr="C:\tmp\c207\assets\th_naorb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3710" y="2200694"/>
            <a:ext cx="434340" cy="159068"/>
          </a:xfrm>
          <a:prstGeom prst="rect">
            <a:avLst/>
          </a:prstGeom>
        </p:spPr>
      </p:pic>
      <p:sp>
        <p:nvSpPr>
          <p:cNvPr id="6" name="Shape 9"/>
          <p:cNvSpPr/>
          <p:nvPr/>
        </p:nvSpPr>
        <p:spPr>
          <a:xfrm>
            <a:off x="3118104" y="3593592"/>
            <a:ext cx="1865376" cy="0"/>
          </a:xfrm>
          <a:prstGeom prst="line">
            <a:avLst/>
          </a:prstGeom>
          <a:noFill/>
          <a:ln w="22225">
            <a:solidFill>
              <a:srgbClr val="8E1B22"/>
            </a:solidFill>
            <a:prstDash val="solid"/>
          </a:ln>
        </p:spPr>
      </p:sp>
      <p:sp>
        <p:nvSpPr>
          <p:cNvPr id="20" name="Text 10"/>
          <p:cNvSpPr txBox="1"/>
          <p:nvPr/>
        </p:nvSpPr>
        <p:spPr>
          <a:xfrm>
            <a:off x="2843784" y="3639312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1 — these two match</a:t>
            </a:r>
            <a:endParaRPr lang="en-US" sz="1100" dirty="0"/>
          </a:p>
        </p:txBody>
      </p:sp>
      <p:sp>
        <p:nvSpPr>
          <p:cNvPr id="21" name="Shape 11"/>
          <p:cNvSpPr/>
          <p:nvPr/>
        </p:nvSpPr>
        <p:spPr>
          <a:xfrm>
            <a:off x="5641848" y="3593592"/>
            <a:ext cx="1865376" cy="0"/>
          </a:xfrm>
          <a:prstGeom prst="line">
            <a:avLst/>
          </a:prstGeom>
          <a:noFill/>
          <a:ln w="22225">
            <a:solidFill>
              <a:srgbClr val="8E1B22"/>
            </a:solidFill>
            <a:prstDash val="solid"/>
          </a:ln>
        </p:spPr>
      </p:sp>
      <p:sp>
        <p:nvSpPr>
          <p:cNvPr id="22" name="Text 12"/>
          <p:cNvSpPr txBox="1"/>
          <p:nvPr/>
        </p:nvSpPr>
        <p:spPr>
          <a:xfrm>
            <a:off x="5367528" y="3639312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2 — these two match</a:t>
            </a:r>
            <a:endParaRPr lang="en-US" sz="1100" dirty="0"/>
          </a:p>
        </p:txBody>
      </p:sp>
      <p:sp>
        <p:nvSpPr>
          <p:cNvPr id="23" name="Shape 13"/>
          <p:cNvSpPr/>
          <p:nvPr/>
        </p:nvSpPr>
        <p:spPr>
          <a:xfrm>
            <a:off x="457200" y="3931920"/>
            <a:ext cx="4023360" cy="676656"/>
          </a:xfrm>
          <a:prstGeom prst="roundRect">
            <a:avLst>
              <a:gd name="adj" fmla="val 10811"/>
            </a:avLst>
          </a:prstGeom>
          <a:solidFill>
            <a:srgbClr val="F4F5F6"/>
          </a:solidFill>
          <a:ln w="12700">
            <a:solidFill>
              <a:srgbClr val="F4F5F6"/>
            </a:solidFill>
            <a:prstDash val="solid"/>
          </a:ln>
        </p:spPr>
      </p:sp>
      <p:sp>
        <p:nvSpPr>
          <p:cNvPr id="24" name="Text 14"/>
          <p:cNvSpPr txBox="1"/>
          <p:nvPr/>
        </p:nvSpPr>
        <p:spPr>
          <a:xfrm>
            <a:off x="621792" y="40050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WAY TO REMEMBER</a:t>
            </a:r>
            <a:endParaRPr lang="en-US" sz="900" dirty="0"/>
          </a:p>
        </p:txBody>
      </p:sp>
      <p:sp>
        <p:nvSpPr>
          <p:cNvPr id="25" name="Text 15"/>
          <p:cNvSpPr txBox="1"/>
          <p:nvPr/>
        </p:nvSpPr>
        <p:spPr>
          <a:xfrm>
            <a:off x="621792" y="4187952"/>
            <a:ext cx="3694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bar, change the operation — and every variable gets its own bar.</a:t>
            </a:r>
            <a:endParaRPr lang="en-US" sz="1250" dirty="0"/>
          </a:p>
        </p:txBody>
      </p:sp>
      <p:sp>
        <p:nvSpPr>
          <p:cNvPr id="26" name="Shape 16"/>
          <p:cNvSpPr/>
          <p:nvPr/>
        </p:nvSpPr>
        <p:spPr>
          <a:xfrm>
            <a:off x="4663440" y="3931920"/>
            <a:ext cx="4023360" cy="676656"/>
          </a:xfrm>
          <a:prstGeom prst="roundRect">
            <a:avLst>
              <a:gd name="adj" fmla="val 10811"/>
            </a:avLst>
          </a:prstGeom>
          <a:solidFill>
            <a:srgbClr val="F4F5F6"/>
          </a:solidFill>
          <a:ln w="12700">
            <a:solidFill>
              <a:srgbClr val="F4F5F6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4828032" y="40050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</a:t>
            </a:r>
            <a:endParaRPr lang="en-US" sz="900" dirty="0"/>
          </a:p>
        </p:txBody>
      </p:sp>
      <p:sp>
        <p:nvSpPr>
          <p:cNvPr id="28" name="Text 18"/>
          <p:cNvSpPr txBox="1"/>
          <p:nvPr/>
        </p:nvSpPr>
        <p:spPr>
          <a:xfrm>
            <a:off x="4828032" y="4187952"/>
            <a:ext cx="3694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laws become especially useful when we build circuits out of NAND and NOR gates.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Simplifying Step by Step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" y="11338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</a:t>
            </a:r>
            <a:endParaRPr lang="en-US" sz="900" dirty="0"/>
          </a:p>
        </p:txBody>
      </p:sp>
      <p:pic>
        <p:nvPicPr>
          <p:cNvPr id="9" name="Image 0" descr="C:\tmp\c207\assets\s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85769"/>
            <a:ext cx="1247470" cy="17617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743200" y="14447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18470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 A already covers A · B, so A · B adds nothing new.</a:t>
            </a:r>
            <a:endParaRPr lang="en-US" sz="1250" dirty="0"/>
          </a:p>
        </p:txBody>
      </p:sp>
      <p:pic>
        <p:nvPicPr>
          <p:cNvPr id="12" name="Image 1" descr="C:\tmp\c207\assets\s1_1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505212"/>
            <a:ext cx="626364" cy="2057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743200" y="24780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 Law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3017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Whenever you see A + A · B, the answer is simply A.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685800" y="35204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LAW USED</a:t>
            </a:r>
            <a:endParaRPr lang="en-US" sz="900" dirty="0"/>
          </a:p>
        </p:txBody>
      </p:sp>
      <p:pic>
        <p:nvPicPr>
          <p:cNvPr id="16" name="Image 2" descr="C:\tmp\c207\assets\l_ab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745428"/>
            <a:ext cx="1136142" cy="15544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663440" y="105156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F7F7F8"/>
          </a:solidFill>
          <a:ln w="12700">
            <a:solidFill>
              <a:srgbClr val="F7F7F8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828032" y="11338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</a:t>
            </a:r>
            <a:endParaRPr lang="en-US" sz="900" dirty="0"/>
          </a:p>
        </p:txBody>
      </p:sp>
      <p:pic>
        <p:nvPicPr>
          <p:cNvPr id="19" name="Image 3" descr="C:\tmp\c207\assets\s2_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451872"/>
            <a:ext cx="1471574" cy="20360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949440" y="144475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</a:t>
            </a:r>
            <a:endParaRPr lang="en-US" sz="1100" dirty="0"/>
          </a:p>
        </p:txBody>
      </p:sp>
      <p:pic>
        <p:nvPicPr>
          <p:cNvPr id="21" name="Image 4" descr="C:\tmp\c207\assets\s2_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1999293"/>
            <a:ext cx="1327709" cy="22921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949440" y="19933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out A</a:t>
            </a:r>
            <a:endParaRPr lang="en-US" sz="1100" dirty="0"/>
          </a:p>
        </p:txBody>
      </p:sp>
      <p:pic>
        <p:nvPicPr>
          <p:cNvPr id="23" name="Image 5" descr="C:\tmp\c207\assets\s2_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2588167"/>
            <a:ext cx="769315" cy="165811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949440" y="25420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Law</a:t>
            </a:r>
            <a:endParaRPr lang="en-US" sz="1100" dirty="0"/>
          </a:p>
        </p:txBody>
      </p:sp>
      <p:pic>
        <p:nvPicPr>
          <p:cNvPr id="25" name="Image 6" descr="C:\tmp\c207\assets\s2_3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122902"/>
            <a:ext cx="595046" cy="195453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6949440" y="30906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Law</a:t>
            </a:r>
            <a:endParaRPr lang="en-US" sz="1100" dirty="0"/>
          </a:p>
        </p:txBody>
      </p:sp>
      <p:sp>
        <p:nvSpPr>
          <p:cNvPr id="27" name="Text 17"/>
          <p:cNvSpPr txBox="1"/>
          <p:nvPr/>
        </p:nvSpPr>
        <p:spPr>
          <a:xfrm>
            <a:off x="4828032" y="3749040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allowed because a Boolean law says so.</a:t>
            </a:r>
            <a:endParaRPr lang="en-US" sz="1250" dirty="0"/>
          </a:p>
        </p:txBody>
      </p:sp>
      <p:sp>
        <p:nvSpPr>
          <p:cNvPr id="28" name="Shape 18"/>
          <p:cNvSpPr/>
          <p:nvPr/>
        </p:nvSpPr>
        <p:spPr>
          <a:xfrm>
            <a:off x="457200" y="4206240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29" name="Text 19"/>
          <p:cNvSpPr txBox="1"/>
          <p:nvPr/>
        </p:nvSpPr>
        <p:spPr>
          <a:xfrm>
            <a:off x="457200" y="42062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expression changes at every step — the logic function does not.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MORGAN'S LAWS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Simplifying with De Morgan's Laws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2651760" cy="3154680"/>
          </a:xfrm>
          <a:prstGeom prst="roundRect">
            <a:avLst>
              <a:gd name="adj" fmla="val 2759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" y="113385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</a:t>
            </a:r>
            <a:endParaRPr lang="en-US" sz="900" dirty="0"/>
          </a:p>
        </p:txBody>
      </p:sp>
      <p:pic>
        <p:nvPicPr>
          <p:cNvPr id="9" name="Image 0" descr="C:\tmp\c207\assets\dmx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045" y="1479353"/>
            <a:ext cx="1014070" cy="1554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17556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</a:t>
            </a:r>
            <a:endParaRPr lang="en-US" sz="1000" dirty="0"/>
          </a:p>
        </p:txBody>
      </p:sp>
      <p:pic>
        <p:nvPicPr>
          <p:cNvPr id="11" name="Image 1" descr="C:\tmp\c207\assets\dmx1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056" y="2137721"/>
            <a:ext cx="1292047" cy="17373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8640" y="24140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Morgan's Law</a:t>
            </a:r>
            <a:endParaRPr lang="en-US" sz="1000" dirty="0"/>
          </a:p>
        </p:txBody>
      </p:sp>
      <p:pic>
        <p:nvPicPr>
          <p:cNvPr id="13" name="Image 2" descr="C:\tmp\c207\assets\dmx1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865" y="2796089"/>
            <a:ext cx="1608430" cy="15544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48640" y="307238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Distributive Law</a:t>
            </a:r>
            <a:endParaRPr lang="en-US" sz="1000" dirty="0"/>
          </a:p>
        </p:txBody>
      </p:sp>
      <p:pic>
        <p:nvPicPr>
          <p:cNvPr id="15" name="Image 3" descr="C:\tmp\c207\assets\dmx1_3_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8199" y="3438888"/>
            <a:ext cx="1289761" cy="181356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548640" y="3730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+ Identity</a:t>
            </a:r>
            <a:endParaRPr lang="en-US" sz="1000" dirty="0"/>
          </a:p>
        </p:txBody>
      </p:sp>
      <p:sp>
        <p:nvSpPr>
          <p:cNvPr id="17" name="Shape 10"/>
          <p:cNvSpPr/>
          <p:nvPr/>
        </p:nvSpPr>
        <p:spPr>
          <a:xfrm>
            <a:off x="2843327" y="1069848"/>
            <a:ext cx="2651760" cy="3154680"/>
          </a:xfrm>
          <a:prstGeom prst="roundRect">
            <a:avLst>
              <a:gd name="adj" fmla="val 2759"/>
            </a:avLst>
          </a:prstGeom>
          <a:solidFill>
            <a:srgbClr val="F7F7F8"/>
          </a:solidFill>
          <a:ln w="12700">
            <a:solidFill>
              <a:srgbClr val="F7F7F8"/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3438144" y="113385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</a:t>
            </a:r>
            <a:endParaRPr lang="en-US" sz="900" dirty="0"/>
          </a:p>
        </p:txBody>
      </p:sp>
      <p:pic>
        <p:nvPicPr>
          <p:cNvPr id="19" name="Image 4" descr="C:\tmp\c207\assets\dmx2_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0830" y="1443691"/>
            <a:ext cx="1397203" cy="19111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3364992" y="17556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</a:t>
            </a:r>
            <a:endParaRPr lang="en-US" sz="1000" dirty="0"/>
          </a:p>
        </p:txBody>
      </p:sp>
      <p:pic>
        <p:nvPicPr>
          <p:cNvPr id="21" name="Image 5" descr="C:\tmp\c207\assets\dmx2_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0607" y="2140464"/>
            <a:ext cx="1317650" cy="152705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3364992" y="24140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Morgan's Law</a:t>
            </a:r>
            <a:endParaRPr lang="en-US" sz="1000" dirty="0"/>
          </a:p>
        </p:txBody>
      </p:sp>
      <p:pic>
        <p:nvPicPr>
          <p:cNvPr id="23" name="Image 6" descr="C:\tmp\c207\assets\dmx2_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98214" y="2798832"/>
            <a:ext cx="1202436" cy="170993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3364992" y="307238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Distributive Law</a:t>
            </a:r>
            <a:endParaRPr lang="en-US" sz="1000" dirty="0"/>
          </a:p>
        </p:txBody>
      </p:sp>
      <p:pic>
        <p:nvPicPr>
          <p:cNvPr id="25" name="Image 7" descr="C:\tmp\c207\assets\dmx2_3_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49522" y="3473025"/>
            <a:ext cx="699821" cy="148285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3364992" y="3730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+ Identity</a:t>
            </a:r>
            <a:endParaRPr lang="en-US" sz="1000" dirty="0"/>
          </a:p>
        </p:txBody>
      </p:sp>
      <p:sp>
        <p:nvSpPr>
          <p:cNvPr id="27" name="Shape 16"/>
          <p:cNvSpPr/>
          <p:nvPr/>
        </p:nvSpPr>
        <p:spPr>
          <a:xfrm>
            <a:off x="6089904" y="1051560"/>
            <a:ext cx="2651760" cy="3154680"/>
          </a:xfrm>
          <a:prstGeom prst="roundRect">
            <a:avLst>
              <a:gd name="adj" fmla="val 2759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28" name="Text 17"/>
          <p:cNvSpPr txBox="1"/>
          <p:nvPr/>
        </p:nvSpPr>
        <p:spPr>
          <a:xfrm>
            <a:off x="6254496" y="113385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</a:t>
            </a:r>
            <a:endParaRPr lang="en-US" sz="900" dirty="0"/>
          </a:p>
        </p:txBody>
      </p:sp>
      <p:pic>
        <p:nvPicPr>
          <p:cNvPr id="29" name="Image 8" descr="C:\tmp\c207\assets\dmx3_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18554" y="1443691"/>
            <a:ext cx="1394460" cy="191110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6181344" y="17556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</a:t>
            </a:r>
            <a:endParaRPr lang="en-US" sz="1000" dirty="0"/>
          </a:p>
        </p:txBody>
      </p:sp>
      <p:pic>
        <p:nvPicPr>
          <p:cNvPr id="31" name="Image 9" descr="C:\tmp\c207\assets\dmx3_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57873" y="2166982"/>
            <a:ext cx="1315822" cy="127102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6181344" y="24140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Morgan's Law</a:t>
            </a:r>
            <a:endParaRPr lang="en-US" sz="1000" dirty="0"/>
          </a:p>
        </p:txBody>
      </p:sp>
      <p:pic>
        <p:nvPicPr>
          <p:cNvPr id="33" name="Image 10" descr="C:\tmp\c207\assets\dmx3_2_c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71741" y="2817858"/>
            <a:ext cx="688086" cy="145085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6181344" y="307238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 Law</a:t>
            </a:r>
            <a:endParaRPr lang="en-US" sz="1000" dirty="0"/>
          </a:p>
        </p:txBody>
      </p:sp>
      <p:sp>
        <p:nvSpPr>
          <p:cNvPr id="35" name="Shape 21"/>
          <p:cNvSpPr/>
          <p:nvPr/>
        </p:nvSpPr>
        <p:spPr>
          <a:xfrm>
            <a:off x="457200" y="4315968"/>
            <a:ext cx="8229600" cy="420624"/>
          </a:xfrm>
          <a:prstGeom prst="roundRect">
            <a:avLst>
              <a:gd name="adj" fmla="val 17391"/>
            </a:avLst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36" name="Text 22"/>
          <p:cNvSpPr txBox="1"/>
          <p:nvPr/>
        </p:nvSpPr>
        <p:spPr>
          <a:xfrm>
            <a:off x="457200" y="43159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 Morgan simplification starts the same way: break the bar, then apply the ordinary laws.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Logic Function, Simpler Circuit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4023360" cy="2971800"/>
          </a:xfrm>
          <a:prstGeom prst="roundRect">
            <a:avLst>
              <a:gd name="adj" fmla="val 2462"/>
            </a:avLst>
          </a:prstGeom>
          <a:solidFill>
            <a:srgbClr val="F4F5F6"/>
          </a:solidFill>
          <a:ln w="12700">
            <a:solidFill>
              <a:srgbClr val="F4F5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" y="11338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SIMPLIFICATION</a:t>
            </a:r>
            <a:endParaRPr lang="en-US" sz="900" dirty="0"/>
          </a:p>
        </p:txBody>
      </p:sp>
      <p:pic>
        <p:nvPicPr>
          <p:cNvPr id="9" name="Image 0" descr="C:\tmp\c207\assets\s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106" y="1352876"/>
            <a:ext cx="1563548" cy="216332"/>
          </a:xfrm>
          <a:prstGeom prst="rect">
            <a:avLst/>
          </a:prstGeom>
        </p:spPr>
      </p:pic>
      <p:pic>
        <p:nvPicPr>
          <p:cNvPr id="10" name="Image 1" descr="C:\tmp\c207\assets\c_ababbar_bef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1737360"/>
            <a:ext cx="2889504" cy="16459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21792" y="3493008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AND gates, 1 OR gate, 1 NOT gate</a:t>
            </a:r>
            <a:endParaRPr lang="en-US" sz="1250" dirty="0"/>
          </a:p>
        </p:txBody>
      </p:sp>
      <p:sp>
        <p:nvSpPr>
          <p:cNvPr id="12" name="Text 7"/>
          <p:cNvSpPr txBox="1"/>
          <p:nvPr/>
        </p:nvSpPr>
        <p:spPr>
          <a:xfrm>
            <a:off x="621792" y="3730752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gates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663440" y="1051560"/>
            <a:ext cx="4023360" cy="2971800"/>
          </a:xfrm>
          <a:prstGeom prst="roundRect">
            <a:avLst>
              <a:gd name="adj" fmla="val 2462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4828032" y="11338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SIMPLIFICATION</a:t>
            </a:r>
            <a:endParaRPr lang="en-US" sz="900" dirty="0"/>
          </a:p>
        </p:txBody>
      </p:sp>
      <p:pic>
        <p:nvPicPr>
          <p:cNvPr id="15" name="Image 2" descr="C:\tmp\c207\assets\s2_3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8915" y="1395624"/>
            <a:ext cx="532409" cy="174879"/>
          </a:xfrm>
          <a:prstGeom prst="rect">
            <a:avLst/>
          </a:prstGeom>
        </p:spPr>
      </p:pic>
      <p:pic>
        <p:nvPicPr>
          <p:cNvPr id="16" name="Image 3" descr="C:\tmp\c207\assets\c_a_af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8973" y="1942643"/>
            <a:ext cx="2352294" cy="59527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4828032" y="269748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gates at all — the output simply follows A.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4828032" y="3063240"/>
            <a:ext cx="3694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out A, then B + NOT B = 1, then A · 1 = A.</a:t>
            </a:r>
            <a:endParaRPr lang="en-US" sz="1250" dirty="0"/>
          </a:p>
        </p:txBody>
      </p:sp>
      <p:sp>
        <p:nvSpPr>
          <p:cNvPr id="19" name="Text 12"/>
          <p:cNvSpPr txBox="1"/>
          <p:nvPr/>
        </p:nvSpPr>
        <p:spPr>
          <a:xfrm>
            <a:off x="4828032" y="3730752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gates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circuits have exactly the same truth table. Boolean algebra changes the hardware, not the logic.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Harder Example: Three Variables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33272"/>
            <a:ext cx="3931920" cy="1783080"/>
          </a:xfrm>
          <a:prstGeom prst="roundRect">
            <a:avLst>
              <a:gd name="adj" fmla="val 4103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" y="110642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</a:t>
            </a:r>
            <a:endParaRPr lang="en-US" sz="900" dirty="0"/>
          </a:p>
        </p:txBody>
      </p:sp>
      <p:pic>
        <p:nvPicPr>
          <p:cNvPr id="9" name="Image 0" descr="C:\tmp\c207\assets\ex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27246"/>
            <a:ext cx="1741475" cy="16642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999232" y="13075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</a:t>
            </a:r>
            <a:endParaRPr lang="en-US" sz="1050" dirty="0"/>
          </a:p>
        </p:txBody>
      </p:sp>
      <p:pic>
        <p:nvPicPr>
          <p:cNvPr id="11" name="Image 1" descr="C:\tmp\c207\assets\ex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665574"/>
            <a:ext cx="1640434" cy="18623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999232" y="16459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out A</a:t>
            </a:r>
            <a:endParaRPr lang="en-US" sz="1050" dirty="0"/>
          </a:p>
        </p:txBody>
      </p:sp>
      <p:pic>
        <p:nvPicPr>
          <p:cNvPr id="13" name="Image 2" descr="C:\tmp\c207\assets\ex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033620"/>
            <a:ext cx="1187729" cy="137693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2999232" y="198424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Law</a:t>
            </a:r>
            <a:endParaRPr lang="en-US" sz="1050" dirty="0"/>
          </a:p>
        </p:txBody>
      </p:sp>
      <p:pic>
        <p:nvPicPr>
          <p:cNvPr id="15" name="Image 3" descr="C:\tmp\c207\assets\ex_3_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2361255"/>
            <a:ext cx="1114425" cy="158877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2999232" y="232257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Law</a:t>
            </a:r>
            <a:endParaRPr lang="en-US" sz="1050" dirty="0"/>
          </a:p>
        </p:txBody>
      </p:sp>
      <p:sp>
        <p:nvSpPr>
          <p:cNvPr id="17" name="Shape 10"/>
          <p:cNvSpPr/>
          <p:nvPr/>
        </p:nvSpPr>
        <p:spPr>
          <a:xfrm>
            <a:off x="457200" y="2907792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7F7F8"/>
          </a:solidFill>
          <a:ln w="12700">
            <a:solidFill>
              <a:srgbClr val="F7F7F8"/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621792" y="29626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FOR THE SIMPLIFIED EXPRESSION</a:t>
            </a:r>
            <a:endParaRPr lang="en-US" sz="900" dirty="0"/>
          </a:p>
        </p:txBody>
      </p:sp>
      <p:pic>
        <p:nvPicPr>
          <p:cNvPr id="19" name="Image 4" descr="C:\tmp\c207\assets\c_a_or_b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6731" y="3167253"/>
            <a:ext cx="2292858" cy="112699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621792" y="4352544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gates instead of 6 (1 NOT, 3 AND, 2 OR).</a:t>
            </a:r>
            <a:endParaRPr lang="en-US" sz="1200" dirty="0"/>
          </a:p>
        </p:txBody>
      </p:sp>
      <p:sp>
        <p:nvSpPr>
          <p:cNvPr id="21" name="Text 13"/>
          <p:cNvSpPr txBox="1"/>
          <p:nvPr/>
        </p:nvSpPr>
        <p:spPr>
          <a:xfrm>
            <a:off x="4480560" y="103327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 — 8 ROWS FOR 3 VARIABLES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261872"/>
          <a:ext cx="4206240" cy="2304288"/>
        </p:xfrm>
        <a:graphic>
          <a:graphicData uri="http://schemas.openxmlformats.org/drawingml/2006/table">
            <a:tbl>
              <a:tblPr/>
              <a:tblGrid>
                <a:gridCol w="347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4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B ·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4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6" name="Image 5" descr="C:\tmp\c207\assets\th_anotb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1373" y="1306772"/>
            <a:ext cx="310134" cy="139979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4480560" y="36210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 column and the A + B · C column match in every row — the simplification is correct.</a:t>
            </a:r>
            <a:endParaRPr lang="en-US" sz="1200" dirty="0"/>
          </a:p>
        </p:txBody>
      </p:sp>
      <p:sp>
        <p:nvSpPr>
          <p:cNvPr id="25" name="Shape 15"/>
          <p:cNvSpPr/>
          <p:nvPr/>
        </p:nvSpPr>
        <p:spPr>
          <a:xfrm>
            <a:off x="4480560" y="406908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F4F5F6"/>
          </a:solidFill>
          <a:ln w="12700">
            <a:solidFill>
              <a:srgbClr val="F4F5F6"/>
            </a:solidFill>
            <a:prstDash val="solid"/>
          </a:ln>
        </p:spPr>
      </p:sp>
      <p:sp>
        <p:nvSpPr>
          <p:cNvPr id="26" name="Text 16"/>
          <p:cNvSpPr txBox="1"/>
          <p:nvPr/>
        </p:nvSpPr>
        <p:spPr>
          <a:xfrm>
            <a:off x="4645152" y="4069080"/>
            <a:ext cx="3877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logic function — 6 gates or 2. Boolean algebra decides which.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9728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1792" y="1280160"/>
            <a:ext cx="384048" cy="384048"/>
          </a:xfrm>
          <a:prstGeom prst="ellipse">
            <a:avLst/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" y="12984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</a:t>
            </a:r>
            <a:endParaRPr lang="en-US" sz="1400" dirty="0"/>
          </a:p>
        </p:txBody>
      </p:sp>
      <p:pic>
        <p:nvPicPr>
          <p:cNvPr id="11" name="Image 0" descr="C:\tmp\c207\assets\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907" y="1925976"/>
            <a:ext cx="944347" cy="17487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9436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Idempotent Law.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246120" y="109728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410712" y="1280160"/>
            <a:ext cx="384048" cy="384048"/>
          </a:xfrm>
          <a:prstGeom prst="ellipse">
            <a:avLst/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410712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904488" y="12984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</a:t>
            </a:r>
            <a:endParaRPr lang="en-US" sz="1400" dirty="0"/>
          </a:p>
        </p:txBody>
      </p:sp>
      <p:pic>
        <p:nvPicPr>
          <p:cNvPr id="17" name="Image 1" descr="C:\tmp\c207\assets\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8265" y="1924681"/>
            <a:ext cx="1247470" cy="17617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38328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Absorption Law.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035040" y="109728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199632" y="1280160"/>
            <a:ext cx="384048" cy="384048"/>
          </a:xfrm>
          <a:prstGeom prst="ellipse">
            <a:avLst/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199632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6693408" y="12984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</a:t>
            </a:r>
            <a:endParaRPr lang="en-US" sz="1400" dirty="0"/>
          </a:p>
        </p:txBody>
      </p:sp>
      <p:pic>
        <p:nvPicPr>
          <p:cNvPr id="23" name="Image 2" descr="C:\tmp\c207\assets\p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146" y="1883228"/>
            <a:ext cx="1563548" cy="21633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17220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factor out A first.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57200" y="301752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4F5F6"/>
          </a:solidFill>
          <a:ln w="12700">
            <a:solidFill>
              <a:srgbClr val="F4F5F6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21792" y="309981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CHALLENGE</a:t>
            </a:r>
            <a:endParaRPr lang="en-US" sz="900" dirty="0"/>
          </a:p>
        </p:txBody>
      </p:sp>
      <p:pic>
        <p:nvPicPr>
          <p:cNvPr id="27" name="Image 3" descr="C:\tmp\c207\assets\s3_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538765"/>
            <a:ext cx="1614373" cy="27828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3931920" y="33649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this one yourself before looking at the next slide.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3931920" y="3703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use the Distributive Law in the form  A + B · C = (A + B) · (A + C).</a:t>
            </a:r>
            <a:endParaRPr lang="en-US" sz="1250" dirty="0"/>
          </a:p>
        </p:txBody>
      </p:sp>
      <p:sp>
        <p:nvSpPr>
          <p:cNvPr id="30" name="Text 23"/>
          <p:cNvSpPr txBox="1"/>
          <p:nvPr/>
        </p:nvSpPr>
        <p:spPr>
          <a:xfrm>
            <a:off x="457200" y="4343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two or three minutes. The answers are on the next slide.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7F7F8"/>
          </a:solidFill>
          <a:ln w="12700">
            <a:solidFill>
              <a:srgbClr val="F7F7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" y="11155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pic>
        <p:nvPicPr>
          <p:cNvPr id="9" name="Image 0" descr="C:\tmp\c207\assets\p_ans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262" y="1524927"/>
            <a:ext cx="751637" cy="24688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94360" y="20299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Law A + A = A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246120" y="10515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7F7F8"/>
          </a:solidFill>
          <a:ln w="12700">
            <a:solidFill>
              <a:srgbClr val="F7F7F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410712" y="11155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pic>
        <p:nvPicPr>
          <p:cNvPr id="13" name="Image 1" descr="C:\tmp\c207\assets\p_ans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6182" y="1524927"/>
            <a:ext cx="751637" cy="24688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383280" y="20299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 Law A + A · B = A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035040" y="10515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7F7F8"/>
          </a:solidFill>
          <a:ln w="12700">
            <a:solidFill>
              <a:srgbClr val="F7F7F8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199632" y="11155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pic>
        <p:nvPicPr>
          <p:cNvPr id="17" name="Image 2" descr="C:\tmp\c207\assets\p_ans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102" y="1524927"/>
            <a:ext cx="751637" cy="24688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172200" y="20299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+ Identity Laws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57200" y="2651760"/>
            <a:ext cx="8229600" cy="1508760"/>
          </a:xfrm>
          <a:prstGeom prst="roundRect">
            <a:avLst>
              <a:gd name="adj" fmla="val 4848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21792" y="27340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CHALLENGE — SOLUTION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685800" y="3108960"/>
            <a:ext cx="219456" cy="219456"/>
          </a:xfrm>
          <a:prstGeom prst="ellipse">
            <a:avLst/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685800" y="31089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pic>
        <p:nvPicPr>
          <p:cNvPr id="23" name="Image 3" descr="C:\tmp\c207\assets\s3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3106491"/>
            <a:ext cx="1100709" cy="18973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2926080" y="30906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85800" y="3621024"/>
            <a:ext cx="219456" cy="219456"/>
          </a:xfrm>
          <a:prstGeom prst="ellipse">
            <a:avLst/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685800" y="36210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27" name="Image 4" descr="C:\tmp\c207\assets\s3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3617412"/>
            <a:ext cx="1756791" cy="213741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2926080" y="36027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Distributive Law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4709160" y="3108960"/>
            <a:ext cx="219456" cy="219456"/>
          </a:xfrm>
          <a:prstGeom prst="ellipse">
            <a:avLst/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4709160" y="31089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31" name="Image 5" descr="C:\tmp\c207\assets\s3_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6632" y="3135066"/>
            <a:ext cx="1235583" cy="185166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949440" y="30906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Law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4709160" y="3621024"/>
            <a:ext cx="219456" cy="219456"/>
          </a:xfrm>
          <a:prstGeom prst="ellipse">
            <a:avLst/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4709160" y="36210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35" name="Image 6" descr="C:\tmp\c207\assets\s3_3_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6632" y="3638635"/>
            <a:ext cx="1002640" cy="186538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6949440" y="36027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Law</a:t>
            </a:r>
            <a:endParaRPr lang="en-US" sz="1100" dirty="0"/>
          </a:p>
        </p:txBody>
      </p:sp>
      <p:sp>
        <p:nvSpPr>
          <p:cNvPr id="37" name="Shape 27"/>
          <p:cNvSpPr/>
          <p:nvPr/>
        </p:nvSpPr>
        <p:spPr>
          <a:xfrm>
            <a:off x="457200" y="425196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38" name="Text 28"/>
          <p:cNvSpPr txBox="1"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that every single step is justified by a named Boolean law.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33272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" y="110642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EXPRESSION BELOW, DO ALL THREE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389888"/>
            <a:ext cx="256032" cy="256032"/>
          </a:xfrm>
          <a:prstGeom prst="ellipse">
            <a:avLst/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389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024128" y="1371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the expression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291840" y="1389888"/>
            <a:ext cx="256032" cy="256032"/>
          </a:xfrm>
          <a:prstGeom prst="ellipse">
            <a:avLst/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291840" y="1389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675888" y="1371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simplified circuit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035040" y="1389888"/>
            <a:ext cx="256032" cy="256032"/>
          </a:xfrm>
          <a:prstGeom prst="ellipse">
            <a:avLst/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035040" y="1389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419088" y="1371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truth table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57200" y="1874520"/>
            <a:ext cx="8229600" cy="2240280"/>
          </a:xfrm>
          <a:prstGeom prst="roundRect">
            <a:avLst>
              <a:gd name="adj" fmla="val 3265"/>
            </a:avLst>
          </a:prstGeom>
          <a:solidFill>
            <a:srgbClr val="F7F7F8"/>
          </a:solidFill>
          <a:ln w="12700">
            <a:solidFill>
              <a:srgbClr val="F7F7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" y="19476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5800" y="2148840"/>
            <a:ext cx="237744" cy="237744"/>
          </a:xfrm>
          <a:prstGeom prst="ellipse">
            <a:avLst/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5800" y="21488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pic>
        <p:nvPicPr>
          <p:cNvPr id="22" name="Image 0" descr="C:\tmp\c207\assets\h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190948"/>
            <a:ext cx="773811" cy="155448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685800" y="2532888"/>
            <a:ext cx="237744" cy="237744"/>
          </a:xfrm>
          <a:prstGeom prst="ellipse">
            <a:avLst/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85800" y="2532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pic>
        <p:nvPicPr>
          <p:cNvPr id="25" name="Image 1" descr="C:\tmp\c207\assets\h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2538420"/>
            <a:ext cx="1051560" cy="190881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85800" y="2916936"/>
            <a:ext cx="237744" cy="237744"/>
          </a:xfrm>
          <a:prstGeom prst="ellipse">
            <a:avLst/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85800" y="29169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pic>
        <p:nvPicPr>
          <p:cNvPr id="28" name="Image 2" descr="C:\tmp\c207\assets\h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2923611"/>
            <a:ext cx="773811" cy="189738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685800" y="3300984"/>
            <a:ext cx="237744" cy="237744"/>
          </a:xfrm>
          <a:prstGeom prst="ellipse">
            <a:avLst/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685800" y="33009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pic>
        <p:nvPicPr>
          <p:cNvPr id="31" name="Image 3" descr="C:\tmp\c207\assets\h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848" y="3303087"/>
            <a:ext cx="1587627" cy="194310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709160" y="2148840"/>
            <a:ext cx="237744" cy="237744"/>
          </a:xfrm>
          <a:prstGeom prst="ellipse">
            <a:avLst/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4709160" y="21488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pic>
        <p:nvPicPr>
          <p:cNvPr id="34" name="Image 4" descr="C:\tmp\c207\assets\hx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3208" y="2187519"/>
            <a:ext cx="1948815" cy="158877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4709160" y="2532888"/>
            <a:ext cx="237744" cy="237744"/>
          </a:xfrm>
          <a:prstGeom prst="ellipse">
            <a:avLst/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4709160" y="2532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pic>
        <p:nvPicPr>
          <p:cNvPr id="37" name="Image 5" descr="C:\tmp\c207\assets\hc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3208" y="2490414"/>
            <a:ext cx="1181862" cy="261747"/>
          </a:xfrm>
          <a:prstGeom prst="rect">
            <a:avLst/>
          </a:prstGeom>
        </p:spPr>
      </p:pic>
      <p:sp>
        <p:nvSpPr>
          <p:cNvPr id="38" name="Shape 29"/>
          <p:cNvSpPr/>
          <p:nvPr/>
        </p:nvSpPr>
        <p:spPr>
          <a:xfrm>
            <a:off x="4709160" y="2916936"/>
            <a:ext cx="237744" cy="237744"/>
          </a:xfrm>
          <a:prstGeom prst="ellipse">
            <a:avLst/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39" name="Text 30"/>
          <p:cNvSpPr txBox="1"/>
          <p:nvPr/>
        </p:nvSpPr>
        <p:spPr>
          <a:xfrm>
            <a:off x="4709160" y="29169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pic>
        <p:nvPicPr>
          <p:cNvPr id="40" name="Image 6" descr="C:\tmp\c207\assets\hc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3208" y="2921325"/>
            <a:ext cx="2481453" cy="192024"/>
          </a:xfrm>
          <a:prstGeom prst="rect">
            <a:avLst/>
          </a:prstGeom>
        </p:spPr>
      </p:pic>
      <p:sp>
        <p:nvSpPr>
          <p:cNvPr id="41" name="Shape 31"/>
          <p:cNvSpPr/>
          <p:nvPr/>
        </p:nvSpPr>
        <p:spPr>
          <a:xfrm>
            <a:off x="4709160" y="3300984"/>
            <a:ext cx="237744" cy="237744"/>
          </a:xfrm>
          <a:prstGeom prst="ellipse">
            <a:avLst/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42" name="Text 32"/>
          <p:cNvSpPr txBox="1"/>
          <p:nvPr/>
        </p:nvSpPr>
        <p:spPr>
          <a:xfrm>
            <a:off x="4709160" y="33009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pic>
        <p:nvPicPr>
          <p:cNvPr id="43" name="Image 7" descr="C:\tmp\c207\assets\hc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93208" y="3303087"/>
            <a:ext cx="2644902" cy="217170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685800" y="3657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law you used at every step. Warm-up (no circuit needed): simplify A + 0 and A · 1.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 — for 6 start with De Morgan; for 8, two factors that differ only in C collapse into one.</a:t>
            </a:r>
            <a:endParaRPr lang="en-US" sz="1200" dirty="0"/>
          </a:p>
        </p:txBody>
      </p:sp>
      <p:sp>
        <p:nvSpPr>
          <p:cNvPr id="45" name="Shape 34"/>
          <p:cNvSpPr/>
          <p:nvPr/>
        </p:nvSpPr>
        <p:spPr>
          <a:xfrm>
            <a:off x="457200" y="4206240"/>
            <a:ext cx="8229600" cy="420624"/>
          </a:xfrm>
          <a:prstGeom prst="roundRect">
            <a:avLst>
              <a:gd name="adj" fmla="val 17391"/>
            </a:avLst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46" name="Text 35"/>
          <p:cNvSpPr txBox="1"/>
          <p:nvPr/>
        </p:nvSpPr>
        <p:spPr>
          <a:xfrm>
            <a:off x="457200" y="42062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Simplification is a skill — it only comes with practice.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97280"/>
            <a:ext cx="301752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8E1B2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097280"/>
            <a:ext cx="30175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Values · 0 and 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965960" y="1472184"/>
            <a:ext cx="0" cy="128016"/>
          </a:xfrm>
          <a:prstGeom prst="line">
            <a:avLst/>
          </a:prstGeom>
          <a:noFill/>
          <a:ln w="22225">
            <a:solidFill>
              <a:srgbClr val="5F636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600200"/>
            <a:ext cx="301752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8E1B2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1600200"/>
            <a:ext cx="30175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Operations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965960" y="1975104"/>
            <a:ext cx="0" cy="128016"/>
          </a:xfrm>
          <a:prstGeom prst="line">
            <a:avLst/>
          </a:prstGeom>
          <a:noFill/>
          <a:ln w="22225">
            <a:solidFill>
              <a:srgbClr val="5F636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2103120"/>
            <a:ext cx="301752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8E1B2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2103120"/>
            <a:ext cx="30175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Expressions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965960" y="2478024"/>
            <a:ext cx="0" cy="128016"/>
          </a:xfrm>
          <a:prstGeom prst="line">
            <a:avLst/>
          </a:prstGeom>
          <a:noFill/>
          <a:ln w="22225">
            <a:solidFill>
              <a:srgbClr val="5F636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2606040"/>
            <a:ext cx="301752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8E1B2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+ Truth Table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965960" y="2980944"/>
            <a:ext cx="0" cy="128016"/>
          </a:xfrm>
          <a:prstGeom prst="line">
            <a:avLst/>
          </a:prstGeom>
          <a:noFill/>
          <a:ln w="22225">
            <a:solidFill>
              <a:srgbClr val="5F636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3108960"/>
            <a:ext cx="301752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8E1B2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Laws · De Morgan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1965960" y="3483864"/>
            <a:ext cx="0" cy="128016"/>
          </a:xfrm>
          <a:prstGeom prst="line">
            <a:avLst/>
          </a:prstGeom>
          <a:noFill/>
          <a:ln w="22225">
            <a:solidFill>
              <a:srgbClr val="5F636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3611880"/>
            <a:ext cx="3017520" cy="365760"/>
          </a:xfrm>
          <a:prstGeom prst="roundRect">
            <a:avLst>
              <a:gd name="adj" fmla="val 20000"/>
            </a:avLst>
          </a:prstGeom>
          <a:solidFill>
            <a:srgbClr val="8E1B22"/>
          </a:solidFill>
          <a:ln w="15875">
            <a:solidFill>
              <a:srgbClr val="8E1B2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Circuit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931920" y="104241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931920" y="1344168"/>
            <a:ext cx="256032" cy="256032"/>
          </a:xfrm>
          <a:prstGeom prst="ellipse">
            <a:avLst/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931920" y="1344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315968" y="1325880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variables have only two values: 0 and 1.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3931920" y="1828800"/>
            <a:ext cx="256032" cy="256032"/>
          </a:xfrm>
          <a:prstGeom prst="ellipse">
            <a:avLst/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931920" y="1828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4315968" y="1810512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Boolean expression describes a logic function.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3931920" y="2313432"/>
            <a:ext cx="256032" cy="256032"/>
          </a:xfrm>
          <a:prstGeom prst="ellipse">
            <a:avLst/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931920" y="2313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4315968" y="2295144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function can be shown as an expression, a circuit or a truth table.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3931920" y="2798064"/>
            <a:ext cx="256032" cy="256032"/>
          </a:xfrm>
          <a:prstGeom prst="ellipse">
            <a:avLst/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931920" y="2798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4315968" y="2779776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laws let us rewrite an expression into a simpler one.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3931920" y="3282696"/>
            <a:ext cx="256032" cy="256032"/>
          </a:xfrm>
          <a:prstGeom prst="ellipse">
            <a:avLst/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931920" y="3282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4315968" y="3264408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simpler expression can mean a simpler circuit — with the same output.</a:t>
            </a:r>
            <a:endParaRPr lang="en-US" sz="1350" dirty="0"/>
          </a:p>
        </p:txBody>
      </p:sp>
      <p:sp>
        <p:nvSpPr>
          <p:cNvPr id="40" name="Text 37"/>
          <p:cNvSpPr txBox="1"/>
          <p:nvPr/>
        </p:nvSpPr>
        <p:spPr>
          <a:xfrm>
            <a:off x="3931920" y="37947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question: can we build any circuit using only ONE type of gate?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8E1B22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class: Universal Gates — NAND and NOR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3490</Words>
  <Application>Microsoft Office PowerPoint</Application>
  <PresentationFormat>On-screen Show (16:9)</PresentationFormat>
  <Paragraphs>699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Presidency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CSE207 Class 2 - Boolean Algebra and Boolean Expressions</dc:title>
  <dc:subject>PptxGenJS Presentation</dc:subject>
  <dc:creator>Masnoon Muztahid</dc:creator>
  <cp:lastModifiedBy>2005067 - Masnoon Muztahid</cp:lastModifiedBy>
  <cp:revision>2</cp:revision>
  <dcterms:created xsi:type="dcterms:W3CDTF">2026-09-30T08:04:52Z</dcterms:created>
  <dcterms:modified xsi:type="dcterms:W3CDTF">2026-09-30T10:26:37Z</dcterms:modified>
</cp:coreProperties>
</file>