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503" autoAdjust="0"/>
  </p:normalViewPr>
  <p:slideViewPr>
    <p:cSldViewPr snapToGrid="0" snapToObjects="1">
      <p:cViewPr varScale="1">
        <p:scale>
          <a:sx n="122" d="100"/>
          <a:sy n="122" d="100"/>
        </p:scale>
        <p:origin x="22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11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Microprocessors Based System Design Laboratory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Microprocessors and Basic CPU Organization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Masnoon Muztahid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Department of Computer Science and Engineering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Co-requisite: CSE321   ·   Credits: 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47104" y="1106424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7104" y="3429000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35624" y="1517904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1517904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6288" y="1106424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76288" y="3429000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35624" y="1847088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847088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05472" y="1106424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05472" y="3429000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35624" y="2176272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176272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106424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34656" y="3429000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35624" y="2505456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505456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1106424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3429000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35624" y="2834640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58200" y="2834640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93024" y="1106424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93024" y="3429000"/>
            <a:ext cx="73152" cy="219456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35624" y="3163824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3163824"/>
            <a:ext cx="219456" cy="7315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1325880"/>
            <a:ext cx="2103120" cy="2103120"/>
          </a:xfrm>
          <a:prstGeom prst="roundRect">
            <a:avLst>
              <a:gd name="adj" fmla="val 2609"/>
            </a:avLst>
          </a:prstGeom>
          <a:solidFill>
            <a:srgbClr val="154F4F"/>
          </a:solidFill>
          <a:ln w="25400">
            <a:solidFill>
              <a:srgbClr val="E0A5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1645920"/>
            <a:ext cx="1463040" cy="1463040"/>
          </a:xfrm>
          <a:prstGeom prst="roundRect">
            <a:avLst>
              <a:gd name="adj" fmla="val 2500"/>
            </a:avLst>
          </a:prstGeom>
          <a:solidFill>
            <a:srgbClr val="0F3D3E"/>
          </a:solidFill>
          <a:ln w="12700">
            <a:solidFill>
              <a:srgbClr val="2E6E6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340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single chip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We Going?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4160520" cy="1719072"/>
          </a:xfrm>
          <a:prstGeom prst="roundRect">
            <a:avLst>
              <a:gd name="adj" fmla="val 4255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25272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Class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4944" y="1508760"/>
            <a:ext cx="0" cy="2267712"/>
          </a:xfrm>
          <a:prstGeom prst="line">
            <a:avLst/>
          </a:prstGeom>
          <a:noFill/>
          <a:ln w="19050">
            <a:solidFill>
              <a:srgbClr val="C9D6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307592"/>
            <a:ext cx="384048" cy="384048"/>
          </a:xfrm>
          <a:prstGeom prst="ellipse">
            <a:avLst/>
          </a:prstGeom>
          <a:solidFill>
            <a:srgbClr val="A8740A"/>
          </a:solidFill>
          <a:ln w="12700">
            <a:solidFill>
              <a:srgbClr val="A874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307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Basics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874520"/>
            <a:ext cx="384048" cy="384048"/>
          </a:xfrm>
          <a:prstGeom prst="ellipse">
            <a:avLst/>
          </a:prstGeom>
          <a:solidFill>
            <a:srgbClr val="A8740A"/>
          </a:solidFill>
          <a:ln w="12700">
            <a:solidFill>
              <a:srgbClr val="A874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74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Microprocessor Fundamentals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441448"/>
            <a:ext cx="384048" cy="384048"/>
          </a:xfrm>
          <a:prstGeom prst="ellipse">
            <a:avLst/>
          </a:prstGeom>
          <a:solidFill>
            <a:srgbClr val="A8740A"/>
          </a:solidFill>
          <a:ln w="12700">
            <a:solidFill>
              <a:srgbClr val="A874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414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SAP-1: a simple computer model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008376"/>
            <a:ext cx="384048" cy="384048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0083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Architecture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575304"/>
            <a:ext cx="384048" cy="384048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753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Assembly Language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38344" y="1508760"/>
            <a:ext cx="0" cy="2267712"/>
          </a:xfrm>
          <a:prstGeom prst="line">
            <a:avLst/>
          </a:prstGeom>
          <a:noFill/>
          <a:ln w="19050">
            <a:solidFill>
              <a:srgbClr val="C9D6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130759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1307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&amp; Logic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8745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1874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Manipulation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4414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4414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Loops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00837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0083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Strings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5753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35753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I/O Interfacing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start from the fundamentals. Every later class builds on today's ideas.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GOALS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Learning Objectives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today's class, you will be able to...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691640"/>
            <a:ext cx="365760" cy="365760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57276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computer and a CPU (processor) 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404872"/>
            <a:ext cx="365760" cy="365760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2860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difference between a microprocessor and a microcontroller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118104"/>
            <a:ext cx="365760" cy="365760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299923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three main parts of a CPU: ALU, Control Unit and Registers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3831336"/>
            <a:ext cx="365760" cy="365760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71246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CPU needs memory and buses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63440" y="1572768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91456" y="1691640"/>
            <a:ext cx="365760" cy="365760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157276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an instruction is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91456" y="2404872"/>
            <a:ext cx="365760" cy="365760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22860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Fetch → Decode → Execute cycle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663440" y="2999232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91456" y="3118104"/>
            <a:ext cx="365760" cy="365760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85232" y="299923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SAP-1, a simple model computer, runs an instruction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663440" y="3712464"/>
            <a:ext cx="4023360" cy="603504"/>
          </a:xfrm>
          <a:prstGeom prst="roundRect">
            <a:avLst>
              <a:gd name="adj" fmla="val 12121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3849624"/>
            <a:ext cx="329184" cy="32918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5285232" y="371246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These ideas are the foundation for understanding and programming the Intel 8086.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Computer Do?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13258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810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121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entering the computer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32588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1810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121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the data: calculate, compare, decide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1887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32588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18105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2121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leaving the computer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880360" y="1920240"/>
            <a:ext cx="457200" cy="0"/>
          </a:xfrm>
          <a:prstGeom prst="line">
            <a:avLst/>
          </a:prstGeom>
          <a:noFill/>
          <a:ln w="28575">
            <a:solidFill>
              <a:srgbClr val="1B6B6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806440" y="1920240"/>
            <a:ext cx="457200" cy="0"/>
          </a:xfrm>
          <a:prstGeom prst="line">
            <a:avLst/>
          </a:prstGeom>
          <a:noFill/>
          <a:ln w="28575">
            <a:solidFill>
              <a:srgbClr val="1B6B63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457200" y="2816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09067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press the key “A”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3383280" y="309067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which key was pressed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09067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“A” appears on the display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2880360" y="3282696"/>
            <a:ext cx="457200" cy="0"/>
          </a:xfrm>
          <a:prstGeom prst="line">
            <a:avLst/>
          </a:prstGeom>
          <a:noFill/>
          <a:ln w="15875">
            <a:solidFill>
              <a:srgbClr val="C9D6D3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806440" y="3282696"/>
            <a:ext cx="457200" cy="0"/>
          </a:xfrm>
          <a:prstGeom prst="line">
            <a:avLst/>
          </a:prstGeom>
          <a:noFill/>
          <a:ln w="15875">
            <a:solidFill>
              <a:srgbClr val="C9D6D3"/>
            </a:solidFill>
            <a:prstDash val="solid"/>
            <a:tailEnd type="triangle"/>
          </a:ln>
        </p:spPr>
      </p:sp>
      <p:sp>
        <p:nvSpPr>
          <p:cNvPr id="26" name="Text 21"/>
          <p:cNvSpPr txBox="1"/>
          <p:nvPr/>
        </p:nvSpPr>
        <p:spPr>
          <a:xfrm>
            <a:off x="457200" y="354787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 on a file icon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3383280" y="354787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the click means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6309360" y="3547872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opens on the screen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2880360" y="3739896"/>
            <a:ext cx="457200" cy="0"/>
          </a:xfrm>
          <a:prstGeom prst="line">
            <a:avLst/>
          </a:prstGeom>
          <a:noFill/>
          <a:ln w="15875">
            <a:solidFill>
              <a:srgbClr val="C9D6D3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5806440" y="3739896"/>
            <a:ext cx="457200" cy="0"/>
          </a:xfrm>
          <a:prstGeom prst="line">
            <a:avLst/>
          </a:prstGeom>
          <a:noFill/>
          <a:ln w="15875">
            <a:solidFill>
              <a:srgbClr val="C9D6D3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2452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05840" y="4114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r>
              <a:rPr lang="en-US" sz="14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is mainly performed by the </a:t>
            </a:r>
            <a:r>
              <a:rPr lang="en-US" sz="14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r>
              <a:rPr lang="en-US" sz="14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(Central Processing Unit). Let's look inside.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CPU / Processor?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441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11556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Processing Unit (CPU)</a:t>
            </a: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also called the </a:t>
            </a:r>
            <a:r>
              <a:rPr lang="en-US" sz="15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part of a computer that executes instructions and processes data.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219456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“add two numbers”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52928"/>
            <a:ext cx="219456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the numbers 5 and 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2103120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12848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566160" y="2697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3044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&amp; processes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478024"/>
            <a:ext cx="2194560" cy="603504"/>
          </a:xfrm>
          <a:prstGeom prst="roundRect">
            <a:avLst>
              <a:gd name="adj" fmla="val 12121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8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697480" y="2404872"/>
            <a:ext cx="822960" cy="155448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 flipV="1">
            <a:off x="2697480" y="2999232"/>
            <a:ext cx="822960" cy="155448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623560" y="2779776"/>
            <a:ext cx="822960" cy="0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57200" y="3749040"/>
            <a:ext cx="2624328" cy="868680"/>
          </a:xfrm>
          <a:prstGeom prst="roundRect">
            <a:avLst>
              <a:gd name="adj" fmla="val 84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RECEIVES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21792" y="4096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and data (from memory)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64408" y="3749040"/>
            <a:ext cx="2624328" cy="868680"/>
          </a:xfrm>
          <a:prstGeom prst="roundRect">
            <a:avLst>
              <a:gd name="adj" fmla="val 84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2900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PROCESSES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3429000" y="4096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them: calculates, compares, moves data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071616" y="3749040"/>
            <a:ext cx="2624328" cy="868680"/>
          </a:xfrm>
          <a:prstGeom prst="roundRect">
            <a:avLst>
              <a:gd name="adj" fmla="val 8421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36208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PRODUCES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236208" y="4096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stored or sent to an output device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BIG PICTURE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Microprocessor?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097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Microprocessor</a:t>
            </a:r>
            <a:r>
              <a:rPr lang="en-US" sz="15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CPU built on a single integrated circuit (IC) chip.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circuit = a tiny silicon chip holding thousands to billions of tiny electronic switches (transistors). Why it matters: a whole CPU on one small, cheap chip made personal computers possible.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57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Microprocessor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709160" y="196596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057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Microcontroller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09397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560320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0F3D3E"/>
          </a:solidFill>
          <a:ln w="19050">
            <a:solidFill>
              <a:srgbClr val="E0A52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251460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5E6B6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chip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2971800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5E6B6C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chip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1874520" y="2679192"/>
            <a:ext cx="960120" cy="109728"/>
          </a:xfrm>
          <a:prstGeom prst="line">
            <a:avLst/>
          </a:prstGeom>
          <a:noFill/>
          <a:ln w="15875">
            <a:solidFill>
              <a:srgbClr val="5E6B6C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74520" y="3063240"/>
            <a:ext cx="960120" cy="73152"/>
          </a:xfrm>
          <a:prstGeom prst="line">
            <a:avLst/>
          </a:prstGeom>
          <a:noFill/>
          <a:ln w="15875">
            <a:solidFill>
              <a:srgbClr val="5E6B6C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83480" y="246888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0A526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120640" y="2679192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679192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679192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4728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contains only the CPU; memory and I/O (input/output) are separate chips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general-purpose computers: PCs, laptops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Intel 8086, Intel Core i5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44728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+ memory + I/O all on one chip: a “computer on a chip”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dedicated devices: microwave, washing machine, TV remote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8051, ATmega328P (Arduino Uno)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CPU FUNDAMENTALS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CPU: Three Main Parts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3429000"/>
          </a:xfrm>
          <a:prstGeom prst="roundRect">
            <a:avLst>
              <a:gd name="adj" fmla="val 2133"/>
            </a:avLst>
          </a:prstGeom>
          <a:solidFill>
            <a:srgbClr val="E8F1EF"/>
          </a:solidFill>
          <a:ln w="15875">
            <a:solidFill>
              <a:srgbClr val="1B6B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9164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461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24612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63040" y="2395728"/>
            <a:ext cx="0" cy="804672"/>
          </a:xfrm>
          <a:prstGeom prst="line">
            <a:avLst/>
          </a:prstGeom>
          <a:noFill/>
          <a:ln w="19050">
            <a:solidFill>
              <a:srgbClr val="0F3D3E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91840" y="2395728"/>
            <a:ext cx="0" cy="804672"/>
          </a:xfrm>
          <a:prstGeom prst="line">
            <a:avLst/>
          </a:prstGeom>
          <a:noFill/>
          <a:ln w="19050">
            <a:solidFill>
              <a:srgbClr val="0F3D3E"/>
            </a:solidFill>
            <a:prstDash val="dash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60020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40280" y="3749040"/>
            <a:ext cx="274320" cy="0"/>
          </a:xfrm>
          <a:prstGeom prst="line">
            <a:avLst/>
          </a:prstGeom>
          <a:noFill/>
          <a:ln w="22225">
            <a:solidFill>
              <a:srgbClr val="0F3D3E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2103120" y="3840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566928" cy="566928"/>
          </a:xfrm>
          <a:prstGeom prst="ellipse">
            <a:avLst/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503" y="1416223"/>
            <a:ext cx="294803" cy="294803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40680" y="1234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Logic Unit (ALU)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156362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arithmetic operations (add, subtract) and logical operations (AND, OR, NOT, compare).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63440" y="2423160"/>
            <a:ext cx="566928" cy="566928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503" y="2559223"/>
            <a:ext cx="294803" cy="29480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44068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(CU)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5440680" y="270662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and controls instruction execution: tells every part what to do, and when.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663440" y="3566160"/>
            <a:ext cx="566928" cy="566928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503" y="3702223"/>
            <a:ext cx="294803" cy="294803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440680" y="3520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5440680" y="384962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very fast storage locations inside the CPU that hold the data being worked on.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4663440" y="4389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three slides: a closer look at each part.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CPU FUNDAMENTALS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ALU: The Calculator of the CPU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930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09728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Logic Unit (ALU)</a:t>
            </a:r>
            <a:r>
              <a:rPr lang="en-US" sz="14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CPU part that performs arithmetic and logic operations.</a:t>
            </a:r>
            <a:endParaRPr lang="en-US" sz="1450" dirty="0"/>
          </a:p>
          <a:p>
            <a:pPr marL="0" indent="0">
              <a:buNone/>
            </a:pPr>
            <a:r>
              <a:rPr lang="en-US" sz="12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Every calculation or comparison in a program is done by the ALU.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6596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E8F1EF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</a:t>
            </a:r>
            <a:endParaRPr lang="en-US" sz="14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96596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E8F1EF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B</a:t>
            </a:r>
            <a:endParaRPr lang="en-US" sz="14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48740" y="2651760"/>
            <a:ext cx="0" cy="256032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77540" y="2651760"/>
            <a:ext cx="0" cy="256032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rot="10800000">
            <a:off x="868680" y="2926080"/>
            <a:ext cx="2788920" cy="777240"/>
          </a:xfrm>
          <a:prstGeom prst="trapezoid">
            <a:avLst/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9260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263140" y="3721608"/>
            <a:ext cx="0" cy="210312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600200" y="3950208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register</a:t>
            </a:r>
            <a:endParaRPr lang="en-US" sz="14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017520"/>
            <a:ext cx="914400" cy="585216"/>
          </a:xfrm>
          <a:prstGeom prst="roundRect">
            <a:avLst>
              <a:gd name="adj" fmla="val 125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050" dirty="0"/>
          </a:p>
          <a:p>
            <a:pPr marL="0" indent="0" algn="ctr">
              <a:buNone/>
            </a:pPr>
            <a:r>
              <a:rPr lang="en-US" sz="950" b="1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“ADD”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H="1">
            <a:off x="3520440" y="3310128"/>
            <a:ext cx="393192" cy="0"/>
          </a:xfrm>
          <a:prstGeom prst="line">
            <a:avLst/>
          </a:prstGeom>
          <a:noFill/>
          <a:ln w="19050">
            <a:solidFill>
              <a:srgbClr val="0F3D3E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20640" y="19659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2029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286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+ 3 = 8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9 − 4 = 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30175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3081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3337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bits (0s and 1s)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5 &gt; 3?  →  Yes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0" y="4069080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57800" y="40690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hold the operands (input values 5 and 3) and the result (8). The ALU only does the work. The 8086 also has an ALU (for 16-bit numbers).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CPU FUNDAMENTALS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Registers: The CPU's Fast Temporary Storage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4018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1234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is a small, very fast storage location inside the CPU. A CPU has only a few of them.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3088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664208" y="2103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needs somewhere very close by to hold data and intermediate results while it executes instructions.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17754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664208" y="2971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compute 5 + 3, the CPU keeps 5 and 3 in registers, the ALU adds them, and 8 is placed in a register.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0462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A8483A"/>
          </a:solidFill>
          <a:ln w="12700">
            <a:solidFill>
              <a:srgbClr val="A848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664208" y="3840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8086 has registers named AX, BX, CX and DX. We will study them in the next class.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94960" y="11887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32120" y="1243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151790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CPU  ·  very fast  ·  very small (only a few)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1938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the items on your desk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26060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8F1EF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32120" y="2679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(RAM)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71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CPU  ·  slower than registers  ·  much larger (billions of locations)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35021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= Random Access Memory, the computer's main memory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a big storage cabinet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for intuition only: you keep what you are using right now close at hand.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CPU FUNDAMENTALS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Unit: The Coordinator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0972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(CU)</a:t>
            </a:r>
            <a:r>
              <a:rPr lang="en-US" sz="14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coordinates the activities of the CPU. It reads each instruction and sends control signals telling the other parts what to do, and when.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 = an on/off electrical signal that commands a component (e.g. “read”, “add”).  Why? Without it, the parts would not act in the right order.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61488"/>
            <a:ext cx="1417320" cy="694944"/>
          </a:xfrm>
          <a:prstGeom prst="roundRect">
            <a:avLst>
              <a:gd name="adj" fmla="val 10526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ADD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3108960"/>
            <a:ext cx="365760" cy="0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31720" y="2560320"/>
            <a:ext cx="1600200" cy="1097280"/>
          </a:xfrm>
          <a:prstGeom prst="roundRect">
            <a:avLst>
              <a:gd name="adj" fmla="val 6667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65176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331720" y="3017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194560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</a:t>
            </a: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a value”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 flipV="1">
            <a:off x="3950208" y="2450592"/>
            <a:ext cx="548640" cy="658368"/>
          </a:xfrm>
          <a:prstGeom prst="line">
            <a:avLst/>
          </a:prstGeom>
          <a:noFill/>
          <a:ln w="15875">
            <a:solidFill>
              <a:srgbClr val="0F3D3E"/>
            </a:solidFill>
            <a:prstDash val="dash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526280" y="2834640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 </a:t>
            </a: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“Hold this number”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 flipV="1">
            <a:off x="3950208" y="3090672"/>
            <a:ext cx="548640" cy="18288"/>
          </a:xfrm>
          <a:prstGeom prst="line">
            <a:avLst/>
          </a:prstGeom>
          <a:noFill/>
          <a:ln w="15875">
            <a:solidFill>
              <a:srgbClr val="0F3D3E"/>
            </a:solidFill>
            <a:prstDash val="dash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4526280" y="3474720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 </a:t>
            </a: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“Perform ADD now”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950208" y="3108960"/>
            <a:ext cx="548640" cy="621792"/>
          </a:xfrm>
          <a:prstGeom prst="line">
            <a:avLst/>
          </a:prstGeom>
          <a:noFill/>
          <a:ln w="15875">
            <a:solidFill>
              <a:srgbClr val="0F3D3E"/>
            </a:solidFill>
            <a:prstDash val="dash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766560" y="2194560"/>
            <a:ext cx="1920240" cy="1792224"/>
          </a:xfrm>
          <a:prstGeom prst="roundRect">
            <a:avLst>
              <a:gd name="adj" fmla="val 4082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304288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87768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903720" y="2670048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traffic controller: it drives no car itself, but tells each one when to go and when to stop.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903720" y="3639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intuition only)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57200" y="4187952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4288536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14400" y="4187952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CPU part performs addition? And which part tells it when to add?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MEMORY, BUSES AND INSTRUCTIONS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+ Memory: Where Programs Live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18872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11680" y="1883664"/>
            <a:ext cx="0" cy="493776"/>
          </a:xfrm>
          <a:prstGeom prst="line">
            <a:avLst/>
          </a:prstGeom>
          <a:noFill/>
          <a:ln w="28575">
            <a:solidFill>
              <a:srgbClr val="1B6B63"/>
            </a:solidFill>
            <a:prstDash val="solid"/>
            <a:headEnd type="triangl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103120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3108960" cy="15544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39867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31920" y="11887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sp>
        <p:nvSpPr>
          <p:cNvPr id="9" name="Text 9"/>
          <p:cNvSpPr txBox="1"/>
          <p:nvPr/>
        </p:nvSpPr>
        <p:spPr>
          <a:xfrm>
            <a:off x="4041648" y="15087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138928" y="1188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stores the instructions and data that the CPU works with.</a:t>
            </a:r>
            <a:endParaRPr lang="en-US" sz="12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number of each memory location (like a house number).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931920" y="2212848"/>
            <a:ext cx="1517904" cy="566928"/>
          </a:xfrm>
          <a:prstGeom prst="roundRect">
            <a:avLst>
              <a:gd name="adj" fmla="val 12903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550408" y="2212848"/>
            <a:ext cx="1517904" cy="566928"/>
          </a:xfrm>
          <a:prstGeom prst="roundRect">
            <a:avLst>
              <a:gd name="adj" fmla="val 12903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work on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168896" y="2212848"/>
            <a:ext cx="1517904" cy="566928"/>
          </a:xfrm>
          <a:prstGeom prst="roundRect">
            <a:avLst>
              <a:gd name="adj" fmla="val 12903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produced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931920" y="2871216"/>
            <a:ext cx="475488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41648" y="303580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138928" y="291693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hold only a few values. A program needs a much bigger place for all its instructions and data.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931920" y="3538728"/>
            <a:ext cx="4754880" cy="603504"/>
          </a:xfrm>
          <a:prstGeom prst="roundRect">
            <a:avLst>
              <a:gd name="adj" fmla="val 12121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41648" y="37033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138928" y="358444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compute 5 + 3, the instruction (ADD) and the numbers (5, 3) must be in memory. The result (8) can be written back.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4242816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25112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14400" y="4242816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and memory are separate parts. How does information travel between them?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MEMORY, BUSES AND INSTRUCTIONS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Bus?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6245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09728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r>
              <a:rPr lang="en-US" sz="14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group of parallel wires (a shared pathway) that transfers information between components.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The CPU, memory and input/output (I/O) devices are separate parts and need a pathway to exchange information.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031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920240" y="2633472"/>
            <a:ext cx="0" cy="219456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headEnd type="triangl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749040" y="21031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0" y="2633472"/>
            <a:ext cx="0" cy="219456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400800" y="210312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223760" y="2633472"/>
            <a:ext cx="0" cy="219456"/>
          </a:xfrm>
          <a:prstGeom prst="line">
            <a:avLst/>
          </a:prstGeom>
          <a:noFill/>
          <a:ln w="25400">
            <a:solidFill>
              <a:srgbClr val="1B6B63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31520" y="2880360"/>
            <a:ext cx="7680960" cy="310896"/>
          </a:xfrm>
          <a:prstGeom prst="roundRect">
            <a:avLst>
              <a:gd name="adj" fmla="val 88235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 (shared pathway)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CPU needs the number 5 from memory, the 5 travels from memory to the CPU along the bus.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85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BUS  ·  DETAILS ON THE NEXT SLIDE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2624328" cy="457200"/>
          </a:xfrm>
          <a:prstGeom prst="roundRect">
            <a:avLst>
              <a:gd name="adj" fmla="val 16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  </a:t>
            </a:r>
            <a:r>
              <a:rPr lang="en-US" sz="11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data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264408" y="3931920"/>
            <a:ext cx="2624328" cy="457200"/>
          </a:xfrm>
          <a:prstGeom prst="roundRect">
            <a:avLst>
              <a:gd name="adj" fmla="val 16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Bus  </a:t>
            </a:r>
            <a:r>
              <a:rPr lang="en-US" sz="11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location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71616" y="3931920"/>
            <a:ext cx="2624328" cy="457200"/>
          </a:xfrm>
          <a:prstGeom prst="roundRect">
            <a:avLst>
              <a:gd name="adj" fmla="val 16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Bus  </a:t>
            </a:r>
            <a:r>
              <a:rPr lang="en-US" sz="11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commands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link: the 8086 has a 16-bit data bus (moves 16 bits at once) and a 20-bit address bus.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MEMORY, BUSES AND INSTRUCTIONS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Bus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1188720"/>
            <a:ext cx="1325880" cy="1371600"/>
          </a:xfrm>
          <a:prstGeom prst="roundRect">
            <a:avLst>
              <a:gd name="adj" fmla="val 5517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0" y="1463040"/>
            <a:ext cx="5486400" cy="0"/>
          </a:xfrm>
          <a:prstGeom prst="line">
            <a:avLst/>
          </a:prstGeom>
          <a:noFill/>
          <a:ln w="38100">
            <a:solidFill>
              <a:srgbClr val="A8740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103120" y="12161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BUS   </a:t>
            </a:r>
            <a:r>
              <a:rPr lang="en-US" sz="1100" i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“location 1”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874520"/>
            <a:ext cx="5486400" cy="0"/>
          </a:xfrm>
          <a:prstGeom prst="line">
            <a:avLst/>
          </a:prstGeom>
          <a:noFill/>
          <a:ln w="38100">
            <a:solidFill>
              <a:srgbClr val="1B6B63"/>
            </a:solidFill>
            <a:prstDash val="solid"/>
            <a:headEnd type="triangl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103120" y="162763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   </a:t>
            </a:r>
            <a:r>
              <a:rPr lang="en-US" sz="1100" i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2286000"/>
            <a:ext cx="5486400" cy="0"/>
          </a:xfrm>
          <a:prstGeom prst="line">
            <a:avLst/>
          </a:prstGeom>
          <a:noFill/>
          <a:ln w="38100">
            <a:solidFill>
              <a:srgbClr val="A8483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103120" y="20391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BUS   </a:t>
            </a:r>
            <a:r>
              <a:rPr lang="en-US" sz="1100" i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“READ”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432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CPU reads the value 5 from memory location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624328" cy="1325880"/>
          </a:xfrm>
          <a:prstGeom prst="roundRect">
            <a:avLst>
              <a:gd name="adj" fmla="val 551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BUS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136392"/>
            <a:ext cx="23957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Carries: </a:t>
            </a: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of the memory location the CPU wants to use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</a:t>
            </a: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→ memory (one way)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house?”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2788920"/>
            <a:ext cx="2624328" cy="1325880"/>
          </a:xfrm>
          <a:prstGeom prst="roundRect">
            <a:avLst>
              <a:gd name="adj" fmla="val 551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01568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01568" y="3136392"/>
            <a:ext cx="23957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Carries: </a:t>
            </a: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data or instruction being moved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</a:t>
            </a: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ways (CPU ↔ memory)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being delivered?”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2788920"/>
            <a:ext cx="2624328" cy="1325880"/>
          </a:xfrm>
          <a:prstGeom prst="roundRect">
            <a:avLst>
              <a:gd name="adj" fmla="val 551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08776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BUS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08776" y="3136392"/>
            <a:ext cx="23957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Carries: </a:t>
            </a: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signals such as READ and WRITE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</a:t>
            </a: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from the CPU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should happen?”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06824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914400" y="42245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an address and data? (Hint: “which house?” vs “what is inside?”)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MEMORY, BUSES AND INSTRUCTIONS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Instruction?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4416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0972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r>
              <a:rPr lang="en-US" sz="14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single command that tells the processor what operation to perform.</a:t>
            </a:r>
            <a:endParaRPr lang="en-US" sz="14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 sequence of instructions stored in memory. The CPU runs them one by 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21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4871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data from memory into a register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0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2121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4871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numbers using the ALU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121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24871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result from a register into memory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2121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24871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two values are equal, or which is bigger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PROGRAM: compute 5 + 3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639312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LOAD 5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ADD 3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STORE result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3639312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5 in a register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+ 3 = 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save 8 in memory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291840"/>
            <a:ext cx="4206240" cy="1325880"/>
          </a:xfrm>
          <a:prstGeom prst="roundRect">
            <a:avLst>
              <a:gd name="adj" fmla="val 5517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3346704"/>
            <a:ext cx="3977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computer, </a:t>
            </a: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is a binary number</a:t>
            </a: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(0s and 1s, e.g. 0001 1010), called machine code. Humans write them as short words like ADD: this is </a:t>
            </a: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language</a:t>
            </a: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classes: we will write instructions in 8086 assembly language.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THE INSTRUCTION CYCLE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CPU Execute an Instruction?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188720"/>
            <a:ext cx="1143000" cy="1143000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3108960"/>
            <a:ext cx="1143000" cy="1143000"/>
          </a:xfrm>
          <a:prstGeom prst="ellipse">
            <a:avLst/>
          </a:prstGeom>
          <a:solidFill>
            <a:srgbClr val="A8740A"/>
          </a:solidFill>
          <a:ln w="12700">
            <a:solidFill>
              <a:srgbClr val="A874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1143000" cy="1143000"/>
          </a:xfrm>
          <a:prstGeom prst="ellipse">
            <a:avLst/>
          </a:prstGeom>
          <a:solidFill>
            <a:srgbClr val="A8483A"/>
          </a:solidFill>
          <a:ln w="12700">
            <a:solidFill>
              <a:srgbClr val="A848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2240280"/>
            <a:ext cx="411480" cy="868680"/>
          </a:xfrm>
          <a:prstGeom prst="line">
            <a:avLst/>
          </a:prstGeom>
          <a:noFill/>
          <a:ln w="25400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1828800" y="3675888"/>
            <a:ext cx="1051560" cy="0"/>
          </a:xfrm>
          <a:prstGeom prst="line">
            <a:avLst/>
          </a:prstGeom>
          <a:noFill/>
          <a:ln w="25400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1417320" y="2240280"/>
            <a:ext cx="411480" cy="868680"/>
          </a:xfrm>
          <a:prstGeom prst="line">
            <a:avLst/>
          </a:prstGeom>
          <a:noFill/>
          <a:ln w="25400">
            <a:solidFill>
              <a:srgbClr val="5E6B6C"/>
            </a:solidFill>
            <a:prstDash val="solid"/>
            <a:tailEnd type="triangle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92" y="269748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45920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instruction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cycle</a:t>
            </a:r>
            <a:r>
              <a:rPr lang="en-US" sz="14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steps the CPU repeats for every instruction.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0" y="17373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81728" y="1892808"/>
            <a:ext cx="365760" cy="365760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166360" y="1737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next instruction from memory.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bring “ADD” into the CPU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0" y="25146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81728" y="2670048"/>
            <a:ext cx="365760" cy="365760"/>
          </a:xfrm>
          <a:prstGeom prst="ellipse">
            <a:avLst/>
          </a:prstGeom>
          <a:solidFill>
            <a:srgbClr val="A8740A"/>
          </a:solidFill>
          <a:ln w="12700">
            <a:solidFill>
              <a:srgbClr val="A874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2514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what the instruction means.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“ADD” means: add two numbers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0" y="32918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81728" y="3447288"/>
            <a:ext cx="365760" cy="365760"/>
          </a:xfrm>
          <a:prstGeom prst="ellipse">
            <a:avLst/>
          </a:prstGeom>
          <a:solidFill>
            <a:srgbClr val="A8483A"/>
          </a:solidFill>
          <a:ln w="12700">
            <a:solidFill>
              <a:srgbClr val="A848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166360" y="3291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the required operation.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the ALU adds the numbers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0" y="411480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09160" y="411480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recipe: read the step → understand it → do it → next step.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THE INSTRUCTION CYCLE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Executing a Simple Addition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Instruction: </a:t>
            </a:r>
            <a:r>
              <a:rPr lang="en-US" sz="15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5 and 3”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63040"/>
            <a:ext cx="1499616" cy="292608"/>
          </a:xfrm>
          <a:prstGeom prst="roundRect">
            <a:avLst>
              <a:gd name="adj" fmla="val 46875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39696" y="1463040"/>
            <a:ext cx="1499616" cy="292608"/>
          </a:xfrm>
          <a:prstGeom prst="roundRect">
            <a:avLst>
              <a:gd name="adj" fmla="val 46875"/>
            </a:avLst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22192" y="1463040"/>
            <a:ext cx="4864608" cy="292608"/>
          </a:xfrm>
          <a:prstGeom prst="roundRect">
            <a:avLst>
              <a:gd name="adj" fmla="val 46875"/>
            </a:avLst>
          </a:prstGeom>
          <a:solidFill>
            <a:srgbClr val="A8483A"/>
          </a:solidFill>
          <a:ln w="12700">
            <a:solidFill>
              <a:srgbClr val="A848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965960"/>
            <a:ext cx="310896" cy="310896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9659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5, 3”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8892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gets the instruction from memory.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75104" y="2532888"/>
            <a:ext cx="146304" cy="0"/>
          </a:xfrm>
          <a:prstGeom prst="line">
            <a:avLst/>
          </a:prstGeom>
          <a:noFill/>
          <a:ln w="19050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39696" y="187452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31136" y="1965960"/>
            <a:ext cx="310896" cy="310896"/>
          </a:xfrm>
          <a:prstGeom prst="ellipse">
            <a:avLst/>
          </a:prstGeom>
          <a:solidFill>
            <a:srgbClr val="A8740A"/>
          </a:solidFill>
          <a:ln w="12700">
            <a:solidFill>
              <a:srgbClr val="A874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96896" y="19659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139696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= add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231136" y="278892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works out that addition is required.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2532888"/>
            <a:ext cx="146304" cy="0"/>
          </a:xfrm>
          <a:prstGeom prst="line">
            <a:avLst/>
          </a:prstGeom>
          <a:noFill/>
          <a:ln w="19050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22192" y="187452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13632" y="1965960"/>
            <a:ext cx="310896" cy="310896"/>
          </a:xfrm>
          <a:prstGeom prst="ellipse">
            <a:avLst/>
          </a:prstGeom>
          <a:solidFill>
            <a:srgbClr val="A8483A"/>
          </a:solidFill>
          <a:ln w="12700">
            <a:solidFill>
              <a:srgbClr val="A848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19659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822192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and  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13632" y="278892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are brought into registers.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40096" y="2532888"/>
            <a:ext cx="146304" cy="0"/>
          </a:xfrm>
          <a:prstGeom prst="line">
            <a:avLst/>
          </a:prstGeom>
          <a:noFill/>
          <a:ln w="19050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04688" y="187452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96128" y="1965960"/>
            <a:ext cx="310896" cy="310896"/>
          </a:xfrm>
          <a:prstGeom prst="ellipse">
            <a:avLst/>
          </a:prstGeom>
          <a:solidFill>
            <a:srgbClr val="A8483A"/>
          </a:solidFill>
          <a:ln w="12700">
            <a:solidFill>
              <a:srgbClr val="A848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61888" y="19659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504688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+ 3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596128" y="278892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performs the addition.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22592" y="2532888"/>
            <a:ext cx="146304" cy="0"/>
          </a:xfrm>
          <a:prstGeom prst="line">
            <a:avLst/>
          </a:prstGeom>
          <a:noFill/>
          <a:ln w="19050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87184" y="1874520"/>
            <a:ext cx="1499616" cy="1691640"/>
          </a:xfrm>
          <a:prstGeom prst="roundRect">
            <a:avLst>
              <a:gd name="adj" fmla="val 4878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78624" y="1965960"/>
            <a:ext cx="310896" cy="310896"/>
          </a:xfrm>
          <a:prstGeom prst="ellipse">
            <a:avLst/>
          </a:prstGeom>
          <a:solidFill>
            <a:srgbClr val="A8483A"/>
          </a:solidFill>
          <a:ln w="12700">
            <a:solidFill>
              <a:srgbClr val="A848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644384" y="196596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187184" y="233172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7278624" y="278892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stored in a register or memory.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639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IT?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3840480"/>
            <a:ext cx="149961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→ bus → CPU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139696" y="3840480"/>
            <a:ext cx="149961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822192" y="3840480"/>
            <a:ext cx="149961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→ registers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504688" y="3840480"/>
            <a:ext cx="149961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187184" y="3840480"/>
            <a:ext cx="149961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memory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25196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25112"/>
            <a:ext cx="237744" cy="237744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914400" y="42519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stages of the instruction cycle? Say them in order without looking.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SAP-1: A SIMPLE COMPUTER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Study SAP-1?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4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processor such as the 8086 has many parts and features. Learning everything at once is hard.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5506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4630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SAP-1 (Simple-As-Possible computer 1)</a:t>
            </a:r>
            <a:r>
              <a:rPr lang="en-US" sz="13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simplified educational computer, designed only for teaching, that contains just the essential parts of a CPU.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SAP-1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 · 8-bit · 16 memory locations · 5 instructions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788920"/>
            <a:ext cx="2194560" cy="0"/>
          </a:xfrm>
          <a:prstGeom prst="line">
            <a:avLst/>
          </a:prstGeom>
          <a:noFill/>
          <a:ln w="50800">
            <a:solidFill>
              <a:srgbClr val="E0A526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47472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intuition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22860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2331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 8086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processor · 16-bit · 1 MB of memory · 100+ instructions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SAP-1 HELPS US UNDERSTAND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675888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755648" y="3675888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054096" y="3675888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352544" y="3675888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50992" y="3675888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67588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execution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24528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06824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14400" y="422452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learner drivers practise in an empty parking lot before driving in city traffic?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SAP-1: A SIMPLE COMPUTER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SAP-1: The Big Picture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834640" y="1188720"/>
            <a:ext cx="411480" cy="3474720"/>
          </a:xfrm>
          <a:prstGeom prst="roundRect">
            <a:avLst>
              <a:gd name="adj" fmla="val 44444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16200000">
            <a:off x="214884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344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 (PC)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the next instruction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instructions and 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04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Register (IR)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current instruction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2344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(ACC)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data and results for the ALU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774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or subtracts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3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and sends control signals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78608" y="1664208"/>
            <a:ext cx="237744" cy="0"/>
          </a:xfrm>
          <a:prstGeom prst="line">
            <a:avLst/>
          </a:prstGeom>
          <a:noFill/>
          <a:ln w="19050">
            <a:solidFill>
              <a:srgbClr val="0F3D3E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64408" y="1664208"/>
            <a:ext cx="237744" cy="0"/>
          </a:xfrm>
          <a:prstGeom prst="line">
            <a:avLst/>
          </a:prstGeom>
          <a:noFill/>
          <a:ln w="19050">
            <a:solidFill>
              <a:srgbClr val="0F3D3E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78608" y="2807208"/>
            <a:ext cx="237744" cy="0"/>
          </a:xfrm>
          <a:prstGeom prst="line">
            <a:avLst/>
          </a:prstGeom>
          <a:noFill/>
          <a:ln w="19050">
            <a:solidFill>
              <a:srgbClr val="0F3D3E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64408" y="2807208"/>
            <a:ext cx="237744" cy="0"/>
          </a:xfrm>
          <a:prstGeom prst="line">
            <a:avLst/>
          </a:prstGeom>
          <a:noFill/>
          <a:ln w="19050">
            <a:solidFill>
              <a:srgbClr val="0F3D3E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578608" y="3950208"/>
            <a:ext cx="237744" cy="0"/>
          </a:xfrm>
          <a:prstGeom prst="line">
            <a:avLst/>
          </a:prstGeom>
          <a:noFill/>
          <a:ln w="19050">
            <a:solidFill>
              <a:srgbClr val="0F3D3E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64408" y="3950208"/>
            <a:ext cx="237744" cy="0"/>
          </a:xfrm>
          <a:prstGeom prst="line">
            <a:avLst/>
          </a:prstGeom>
          <a:noFill/>
          <a:ln w="19050">
            <a:solidFill>
              <a:srgbClr val="0F3D3E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2121408"/>
            <a:ext cx="0" cy="237744"/>
          </a:xfrm>
          <a:prstGeom prst="line">
            <a:avLst/>
          </a:prstGeom>
          <a:noFill/>
          <a:ln w="19050">
            <a:solidFill>
              <a:srgbClr val="0F3D3E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89320" y="1188720"/>
            <a:ext cx="2697480" cy="3474720"/>
          </a:xfrm>
          <a:prstGeom prst="roundRect">
            <a:avLst>
              <a:gd name="adj" fmla="val 2712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44768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diagram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144768" y="1719072"/>
            <a:ext cx="292608" cy="292608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28816" y="169164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connects to one shared bus.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144768" y="2432304"/>
            <a:ext cx="292608" cy="292608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28816" y="240487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moment, one block sends information on the bus and another block receives it.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44768" y="3145536"/>
            <a:ext cx="292608" cy="292608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28816" y="311810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decides who sends and who receives, step by step.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44768" y="3886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view: the real SAP-1 also has a memory address register, a B register and an output register.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SAP-1: A SIMPLE COMPUTER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SAP-1 Components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233928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 analogy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Counter (PC)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the address of the next instruction. Increases by 1 after each fetch.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E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Bookmark in a recipe 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Register (IR)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the current instruction while it is decoded and executed.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E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step you are reading now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Accumulator (ACC)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working register: holds data used by the ALU and stores the ALU's result.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E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mixing bowl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Performs arithmetic/logic operations (in SAP-1: add and subtract).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E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cook's hands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the program's instructions and data (16 locations in SAP-1).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E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recipe book and the pantry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Decodes the instruction and sends control signals to coordinate every step.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E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head chef giving 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pathway that moves information between the components.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5E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shared kitchen counter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left two columns. The kitchen analogy is only a memory aid.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SAP-1: A SIMPLE COMPUTER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SAP-1 Executes an Instruction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80160"/>
            <a:ext cx="3026664" cy="329184"/>
          </a:xfrm>
          <a:prstGeom prst="roundRect">
            <a:avLst>
              <a:gd name="adj" fmla="val 41667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28800"/>
            <a:ext cx="329184" cy="329184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783080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PC holds the address of the next instruction.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615184"/>
            <a:ext cx="329184" cy="329184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569464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is read from memory and travels over the bus.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01568"/>
            <a:ext cx="329184" cy="329184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355848"/>
            <a:ext cx="2587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placed in the Instruction Register (IR). The PC increases by 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0208" y="1280160"/>
            <a:ext cx="1792224" cy="329184"/>
          </a:xfrm>
          <a:prstGeom prst="roundRect">
            <a:avLst>
              <a:gd name="adj" fmla="val 41667"/>
            </a:avLst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1828800"/>
            <a:ext cx="329184" cy="329184"/>
          </a:xfrm>
          <a:prstGeom prst="ellipse">
            <a:avLst/>
          </a:prstGeom>
          <a:solidFill>
            <a:srgbClr val="A8740A"/>
          </a:solidFill>
          <a:ln w="12700">
            <a:solidFill>
              <a:srgbClr val="A874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178308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Unit reads the IR and works out what to 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18872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99048" y="1280160"/>
            <a:ext cx="2478024" cy="329184"/>
          </a:xfrm>
          <a:prstGeom prst="roundRect">
            <a:avLst>
              <a:gd name="adj" fmla="val 41667"/>
            </a:avLst>
          </a:prstGeom>
          <a:solidFill>
            <a:srgbClr val="A8483A"/>
          </a:solidFill>
          <a:ln w="12700">
            <a:solidFill>
              <a:srgbClr val="A848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1828800"/>
            <a:ext cx="329184" cy="329184"/>
          </a:xfrm>
          <a:prstGeom prst="ellipse">
            <a:avLst/>
          </a:prstGeom>
          <a:solidFill>
            <a:srgbClr val="A8483A"/>
          </a:solidFill>
          <a:ln w="12700">
            <a:solidFill>
              <a:srgbClr val="A848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1783080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data is brought from memory over the bus.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615184"/>
            <a:ext cx="329184" cy="329184"/>
          </a:xfrm>
          <a:prstGeom prst="ellipse">
            <a:avLst/>
          </a:prstGeom>
          <a:solidFill>
            <a:srgbClr val="A8483A"/>
          </a:solidFill>
          <a:ln w="12700">
            <a:solidFill>
              <a:srgbClr val="A848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2569464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and accumulator perform the operation.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3401568"/>
            <a:ext cx="329184" cy="329184"/>
          </a:xfrm>
          <a:prstGeom prst="ellipse">
            <a:avLst/>
          </a:prstGeom>
          <a:solidFill>
            <a:srgbClr val="A8483A"/>
          </a:solidFill>
          <a:ln w="12700">
            <a:solidFill>
              <a:srgbClr val="A8483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56248" y="3355848"/>
            <a:ext cx="2039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stored in the accumulator.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27889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27448" y="2990088"/>
            <a:ext cx="237744" cy="0"/>
          </a:xfrm>
          <a:prstGeom prst="line">
            <a:avLst/>
          </a:prstGeom>
          <a:noFill/>
          <a:ln w="19050">
            <a:solidFill>
              <a:srgbClr val="0F3D3E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983480" y="2788920"/>
            <a:ext cx="731520" cy="411480"/>
          </a:xfrm>
          <a:prstGeom prst="roundRect">
            <a:avLst>
              <a:gd name="adj" fmla="val 17778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an ADD”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21608" y="1444752"/>
            <a:ext cx="210312" cy="0"/>
          </a:xfrm>
          <a:prstGeom prst="line">
            <a:avLst/>
          </a:prstGeom>
          <a:noFill/>
          <a:ln w="19050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870448" y="1444752"/>
            <a:ext cx="210312" cy="0"/>
          </a:xfrm>
          <a:prstGeom prst="line">
            <a:avLst/>
          </a:prstGeom>
          <a:noFill/>
          <a:ln w="19050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" y="4315968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E8F1EF"/>
          </a:solidFill>
          <a:ln w="12700">
            <a:solidFill>
              <a:srgbClr val="E8F1EF"/>
            </a:solidFill>
            <a:prstDash val="solid"/>
          </a:ln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379976"/>
            <a:ext cx="219456" cy="219456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914400" y="431596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cycle repeats with the next instruction, which the PC is already pointing to.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SAP-1: A SIMPLE COMPUTER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Complete Example: ADD in SAP-1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Situation: 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already holds 5. The next instruction, at address 1, is </a:t>
            </a:r>
            <a:r>
              <a:rPr lang="en-US" sz="13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10</a:t>
            </a:r>
            <a:r>
              <a:rPr lang="en-US" sz="130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“add the value stored at address 10 to the accumulator”.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2286000" cy="197510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E6B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 9  (done)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= load accumulator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 = halt (stop)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17520" y="1691640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90672" y="181051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1B6B63"/>
          </a:solidFill>
          <a:ln w="12700">
            <a:solidFill>
              <a:srgbClr val="1B6B6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3886200" y="16916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[1]  →  IR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10” is copied into the IR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11980" y="2176272"/>
            <a:ext cx="0" cy="118872"/>
          </a:xfrm>
          <a:prstGeom prst="line">
            <a:avLst/>
          </a:prstGeom>
          <a:noFill/>
          <a:ln w="15875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017520" y="2304288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90672" y="2423160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3886200" y="23042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the value at address 10”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411980" y="2788920"/>
            <a:ext cx="0" cy="118872"/>
          </a:xfrm>
          <a:prstGeom prst="line">
            <a:avLst/>
          </a:prstGeom>
          <a:noFill/>
          <a:ln w="15875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017520" y="2916936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90672" y="3035808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A8483A"/>
          </a:solidFill>
          <a:ln w="12700">
            <a:solidFill>
              <a:srgbClr val="A848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3886200" y="29169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[10]  →  bus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3 is sent to the ALU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411980" y="3401568"/>
            <a:ext cx="0" cy="118872"/>
          </a:xfrm>
          <a:prstGeom prst="line">
            <a:avLst/>
          </a:prstGeom>
          <a:noFill/>
          <a:ln w="15875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7" name="Shape 19"/>
          <p:cNvSpPr/>
          <p:nvPr/>
        </p:nvSpPr>
        <p:spPr>
          <a:xfrm>
            <a:off x="3017520" y="3529584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90672" y="3648456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A8483A"/>
          </a:solidFill>
          <a:ln w="12700">
            <a:solidFill>
              <a:srgbClr val="A8483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3886200" y="352958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/ Accumulator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+ 3 = 8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411980" y="4014216"/>
            <a:ext cx="0" cy="118872"/>
          </a:xfrm>
          <a:prstGeom prst="line">
            <a:avLst/>
          </a:prstGeom>
          <a:noFill/>
          <a:ln w="15875">
            <a:solidFill>
              <a:srgbClr val="5E6B6C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017520" y="4142232"/>
            <a:ext cx="2788920" cy="475488"/>
          </a:xfrm>
          <a:prstGeom prst="roundRect">
            <a:avLst>
              <a:gd name="adj" fmla="val 15385"/>
            </a:avLst>
          </a:prstGeom>
          <a:solidFill>
            <a:srgbClr val="FDF3DC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090672" y="4261104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A8740A"/>
          </a:solidFill>
          <a:ln w="12700">
            <a:solidFill>
              <a:srgbClr val="A8740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3886200" y="41422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= 8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is now 2 (next: HLT)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080760" y="169164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REGISTERS: BEFORE → AFTER</a:t>
            </a:r>
            <a:endParaRPr lang="en-US" sz="10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965960"/>
          <a:ext cx="2606040" cy="131673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Shape 27"/>
          <p:cNvSpPr/>
          <p:nvPr/>
        </p:nvSpPr>
        <p:spPr>
          <a:xfrm>
            <a:off x="6080760" y="34747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217920" y="3520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flow, not the circuitry: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instruction → decode it → get the data → compute → store the result.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Have We Learned?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E8F1EF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(processor)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66544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+ Control Unit + Registers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05456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E8F1EF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Buses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44368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8328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E8F1EF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→ Decode → Execute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22192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61104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understanding 8086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1234440"/>
            <a:ext cx="0" cy="3383280"/>
          </a:xfrm>
          <a:prstGeom prst="line">
            <a:avLst/>
          </a:prstGeom>
          <a:noFill/>
          <a:ln w="15875">
            <a:solidFill>
              <a:srgbClr val="C9D6D3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297680" y="11430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key takeaways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1664208"/>
            <a:ext cx="329184" cy="329184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5727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executes instructions. A microprocessor is a CPU on a single chip.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276856"/>
            <a:ext cx="329184" cy="329184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18541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 has three core parts: the ALU (calculates), the Control Unit (coordinates) and registers (fast storage).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889504"/>
            <a:ext cx="329184" cy="329184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7980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holds instructions and data. Buses (data, address, control) carry information between the CPU and memory.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3502152"/>
            <a:ext cx="329184" cy="329184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4107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 goes through Fetch → Decode → Execute.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114800"/>
            <a:ext cx="329184" cy="329184"/>
          </a:xfrm>
          <a:prstGeom prst="ellipse">
            <a:avLst/>
          </a:prstGeom>
          <a:solidFill>
            <a:srgbClr val="1B6B63"/>
          </a:solidFill>
          <a:ln w="12700">
            <a:solidFill>
              <a:srgbClr val="1B6B6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0233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SAP-1 is a simple model of a CPU. The same ideas appear in the Intel 8086.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CSE322  ·  Class 1  ·  Introduction to Microprocessors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5E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24328" cy="146304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344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87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76479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CPU component performs addition?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64408" y="1234440"/>
            <a:ext cx="2624328" cy="146304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44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87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6479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instructions stored before they are executed?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71616" y="1234440"/>
            <a:ext cx="2624328" cy="146304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344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87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76479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an address and data?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24328" cy="146304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9900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87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41071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stages of the instruction cycle, and what happens in each?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264408" y="2880360"/>
            <a:ext cx="2624328" cy="146304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 w="12700">
            <a:solidFill>
              <a:srgbClr val="C9D6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29900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874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410712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study SAP-1 before the 8086?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71616" y="2880360"/>
            <a:ext cx="2624328" cy="1463040"/>
          </a:xfrm>
          <a:prstGeom prst="roundRect">
            <a:avLst>
              <a:gd name="adj" fmla="val 500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044952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236208" y="3447288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answer from memory first, then check the slides. Discuss your answers with a classmate.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· CLASS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Class: Understanding the 8086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91056"/>
            <a:ext cx="182880" cy="182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5087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8086?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93392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19110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architecture overview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95728"/>
            <a:ext cx="182880" cy="1828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8680" y="2313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BIU and EU (Bus Interface Unit, Execution Unit)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98064"/>
            <a:ext cx="182880" cy="1828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68680" y="2715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registers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00400"/>
            <a:ext cx="182880" cy="18288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68680" y="311810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registers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02736"/>
            <a:ext cx="182880" cy="18288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68680" y="3520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and FLAGS</a:t>
            </a:r>
            <a:endParaRPr lang="en-US" sz="14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005072"/>
            <a:ext cx="182880" cy="18288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6868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segmentation</a:t>
            </a:r>
            <a:endParaRPr lang="en-US" sz="1400" dirty="0"/>
          </a:p>
        </p:txBody>
      </p:sp>
      <p:sp>
        <p:nvSpPr>
          <p:cNvPr id="18" name="Shape 9"/>
          <p:cNvSpPr/>
          <p:nvPr/>
        </p:nvSpPr>
        <p:spPr>
          <a:xfrm>
            <a:off x="5303520" y="150876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154F4F"/>
          </a:solidFill>
          <a:ln w="12700">
            <a:solidFill>
              <a:srgbClr val="2E6E6A"/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5468112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idea  →  in the 8086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5468112" y="20116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150" dirty="0"/>
          </a:p>
        </p:txBody>
      </p:sp>
      <p:sp>
        <p:nvSpPr>
          <p:cNvPr id="21" name="Text 12"/>
          <p:cNvSpPr txBox="1"/>
          <p:nvPr/>
        </p:nvSpPr>
        <p:spPr>
          <a:xfrm>
            <a:off x="681228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13"/>
          <p:cNvSpPr txBox="1"/>
          <p:nvPr/>
        </p:nvSpPr>
        <p:spPr>
          <a:xfrm>
            <a:off x="7114032" y="2011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Pointer (IP)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5468112" y="2441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</a:t>
            </a:r>
            <a:endParaRPr lang="en-US" sz="1150" dirty="0"/>
          </a:p>
        </p:txBody>
      </p:sp>
      <p:sp>
        <p:nvSpPr>
          <p:cNvPr id="24" name="Text 15"/>
          <p:cNvSpPr txBox="1"/>
          <p:nvPr/>
        </p:nvSpPr>
        <p:spPr>
          <a:xfrm>
            <a:off x="6812280" y="24414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16"/>
          <p:cNvSpPr txBox="1"/>
          <p:nvPr/>
        </p:nvSpPr>
        <p:spPr>
          <a:xfrm>
            <a:off x="7114032" y="2441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register</a:t>
            </a:r>
            <a:endParaRPr lang="en-US" sz="1150" dirty="0"/>
          </a:p>
        </p:txBody>
      </p:sp>
      <p:sp>
        <p:nvSpPr>
          <p:cNvPr id="26" name="Text 17"/>
          <p:cNvSpPr txBox="1"/>
          <p:nvPr/>
        </p:nvSpPr>
        <p:spPr>
          <a:xfrm>
            <a:off x="5468112" y="28712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150" dirty="0"/>
          </a:p>
        </p:txBody>
      </p:sp>
      <p:sp>
        <p:nvSpPr>
          <p:cNvPr id="27" name="Text 18"/>
          <p:cNvSpPr txBox="1"/>
          <p:nvPr/>
        </p:nvSpPr>
        <p:spPr>
          <a:xfrm>
            <a:off x="6812280" y="28712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7114032" y="287121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AX, BX, CX, DX, ...</a:t>
            </a:r>
            <a:endParaRPr lang="en-US" sz="1150" dirty="0"/>
          </a:p>
        </p:txBody>
      </p:sp>
      <p:sp>
        <p:nvSpPr>
          <p:cNvPr id="29" name="Text 20"/>
          <p:cNvSpPr txBox="1"/>
          <p:nvPr/>
        </p:nvSpPr>
        <p:spPr>
          <a:xfrm>
            <a:off x="5468112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+ Control Unit</a:t>
            </a:r>
            <a:endParaRPr lang="en-US" sz="1150" dirty="0"/>
          </a:p>
        </p:txBody>
      </p:sp>
      <p:sp>
        <p:nvSpPr>
          <p:cNvPr id="30" name="Text 21"/>
          <p:cNvSpPr txBox="1"/>
          <p:nvPr/>
        </p:nvSpPr>
        <p:spPr>
          <a:xfrm>
            <a:off x="6812280" y="33009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7114032" y="3300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Unit (EU)</a:t>
            </a:r>
            <a:endParaRPr lang="en-US" sz="1150" dirty="0"/>
          </a:p>
        </p:txBody>
      </p:sp>
      <p:sp>
        <p:nvSpPr>
          <p:cNvPr id="32" name="Text 23"/>
          <p:cNvSpPr txBox="1"/>
          <p:nvPr/>
        </p:nvSpPr>
        <p:spPr>
          <a:xfrm>
            <a:off x="5468112" y="37307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+ memory access</a:t>
            </a:r>
            <a:endParaRPr lang="en-US" sz="1150" dirty="0"/>
          </a:p>
        </p:txBody>
      </p:sp>
      <p:sp>
        <p:nvSpPr>
          <p:cNvPr id="33" name="Text 24"/>
          <p:cNvSpPr txBox="1"/>
          <p:nvPr/>
        </p:nvSpPr>
        <p:spPr>
          <a:xfrm>
            <a:off x="6812280" y="37307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7114032" y="37307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Interface Unit (BIU)</a:t>
            </a:r>
            <a:endParaRPr lang="en-US" sz="115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4343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learned how a simple processor works. Next, we will see how these ideas appear in the Intel 8086.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3238</Words>
  <Application>Microsoft Office PowerPoint</Application>
  <PresentationFormat>On-screen Show (16:9)</PresentationFormat>
  <Paragraphs>584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Presidency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CSE322 Class 1 - Introduction to Microprocessors and Basic CPU Organization</dc:title>
  <dc:subject>PptxGenJS Presentation</dc:subject>
  <dc:creator>Masnoon Muztahid</dc:creator>
  <cp:lastModifiedBy>2005067 - Masnoon Muztahid</cp:lastModifiedBy>
  <cp:revision>2</cp:revision>
  <dcterms:created xsi:type="dcterms:W3CDTF">2026-09-27T06:20:21Z</dcterms:created>
  <dcterms:modified xsi:type="dcterms:W3CDTF">2026-09-27T16:26:09Z</dcterms:modified>
</cp:coreProperties>
</file>