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472" autoAdjust="0"/>
  </p:normalViewPr>
  <p:slideViewPr>
    <p:cSldViewPr snapToGrid="0" snapToObjects="1">
      <p:cViewPr varScale="1">
        <p:scale>
          <a:sx n="78" d="100"/>
          <a:sy n="78" d="100"/>
        </p:scale>
        <p:origin x="7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08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· DATABASE SYSTEMS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Systems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Database Fundamentals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5196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Masnoon Muztahid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778240" y="1737360"/>
            <a:ext cx="2377440" cy="3108960"/>
          </a:xfrm>
          <a:prstGeom prst="can">
            <a:avLst/>
          </a:prstGeom>
          <a:solidFill>
            <a:srgbClr val="0F766E"/>
          </a:solidFill>
          <a:ln w="19050">
            <a:solidFill>
              <a:srgbClr val="7FD1C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We Going?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this course — in four stages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databases are and why we use them.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72384" y="3337560"/>
            <a:ext cx="283464" cy="0"/>
          </a:xfrm>
          <a:prstGeom prst="line">
            <a:avLst/>
          </a:prstGeom>
          <a:noFill/>
          <a:ln w="2540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10712" y="201168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9312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429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data to store and how different pieces of data are related.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34456" y="3337560"/>
            <a:ext cx="283464" cy="0"/>
          </a:xfrm>
          <a:prstGeom prst="line">
            <a:avLst/>
          </a:prstGeom>
          <a:noFill/>
          <a:ln w="2540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72784" y="201168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1384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1384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3429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language to create, retrieve, and modify data.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96528" y="3337560"/>
            <a:ext cx="283464" cy="0"/>
          </a:xfrm>
          <a:prstGeom prst="line">
            <a:avLst/>
          </a:prstGeom>
          <a:noFill/>
          <a:ln w="2540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34856" y="201168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63456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63456" y="2606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Applications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429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real applications talk to databases.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157276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Database Fundamentals  </a:t>
            </a:r>
            <a:r>
              <a:rPr lang="en-US" sz="2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 start with what databases are and why we need them.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Real-World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definitions, let's start with a situation we all know.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at Presidency University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student, the university must store: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74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47088" y="34747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47088" y="3474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45536" y="34747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45536" y="3474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43984" y="34747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3984" y="3474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95928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95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47088" y="3995928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47088" y="3995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45536" y="3995928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45536" y="3995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43984" y="3995928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43984" y="399592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537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also departments, courses, teachers, and results.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4572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16002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| Rahim  | CSE | rahim@mail.com  | 3.70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19088" y="2075688"/>
            <a:ext cx="4572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56248" y="207568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| Karim  | EEE | karim@mail.com  | 3.50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28816" y="2551176"/>
            <a:ext cx="4572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65976" y="25511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 | Anika  | CSE | anika@mail.com  | 3.90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38544" y="3026664"/>
            <a:ext cx="4572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75704" y="302666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 | Tanvir | BBA | tanvir@mail.com | 3.20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48272" y="3502152"/>
            <a:ext cx="4572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85432" y="35021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| Nusrat | CSE | nusrat@mail.com | 3.60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3977640"/>
            <a:ext cx="457200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95160" y="39776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 | Farhan | EEE | farhan@mail.com | 3.10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4526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and 19,994 more records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0749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data?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raw facts we record. For example, 101, Rahim, CSE and 3.70 are each a piece of data.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09360" y="50749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DF1DF"/>
          </a:solidFill>
          <a:ln w="15875">
            <a:solidFill>
              <a:srgbClr val="E8C79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92240" y="50749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should we store and manage all this information?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Managing Data Difficult?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university — now think about 20,000 students' worth of information.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00200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amount of data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students × many details = hundreds of thousands of values.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68296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data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student's details are copied into several offices' files.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36392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searching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all CSE students with CGPA above 3.5" — by hand?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904488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problems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value in one place, forget another → conflicting data.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672584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teachers and admins all need the data at the same time.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49440" y="1600200"/>
            <a:ext cx="4663440" cy="3749040"/>
          </a:xfrm>
          <a:prstGeom prst="roundRect">
            <a:avLst>
              <a:gd name="adj" fmla="val 1951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Mini-example: Anika changes her email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78040" y="22402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2313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Registrar's file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anika.new@mail.com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95560" y="242316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95560" y="2423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updated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30632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3136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Department's file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anika@mail.com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195560" y="324612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195560" y="32461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78040" y="388620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0" y="3959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Library's file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anika@mail.com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95560" y="406908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95560" y="40690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old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email is correct? The data is now inconsistent.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5321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better way to organize and manage large amounts of related data.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Database?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to our 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is an organized collection of related data.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database: scattered files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-240000">
            <a:off x="548640" y="306324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7D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 rot="-240000">
            <a:off x="548640" y="306324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cse_students.xlsx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180000">
            <a:off x="1234440" y="370332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7D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 rot="180000">
            <a:off x="1234440" y="370332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results_2025.docx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20000">
            <a:off x="685800" y="434340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7DF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 rot="120000">
            <a:off x="685800" y="434340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teachers_list.txt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rot="-180000">
            <a:off x="1234440" y="4937760"/>
            <a:ext cx="2514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7DF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 rot="-180000">
            <a:off x="1234440" y="49377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register (paper)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4114800"/>
            <a:ext cx="7772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97764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database: one organized place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20640" y="301752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Database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49240" y="3520440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0" y="3520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9240" y="3877056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49240" y="4233672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49240" y="4590288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0" y="4590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49240" y="4946904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0" y="4946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3017520"/>
            <a:ext cx="2834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kinds of information the university keeps — and they are related: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belongs to a Department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teaches Courses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links a Student to a Course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  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organized place → less repetition, easier searching, and consistent updates.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DBMS?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DF1DF"/>
          </a:solidFill>
          <a:ln w="15875">
            <a:solidFill>
              <a:srgbClr val="E8C79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97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database holds the information, how do users and applications actually work with it?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Application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86000" y="2852928"/>
            <a:ext cx="0" cy="457200"/>
          </a:xfrm>
          <a:prstGeom prst="line">
            <a:avLst/>
          </a:prstGeom>
          <a:noFill/>
          <a:ln w="2540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468880" y="2898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student 101"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3375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286000" y="4041648"/>
            <a:ext cx="0" cy="457200"/>
          </a:xfrm>
          <a:prstGeom prst="line">
            <a:avLst/>
          </a:prstGeom>
          <a:noFill/>
          <a:ln w="25400">
            <a:solidFill>
              <a:srgbClr val="5B657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468880" y="4087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/ writes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4526280"/>
            <a:ext cx="2011680" cy="1188720"/>
          </a:xfrm>
          <a:prstGeom prst="can">
            <a:avLst/>
          </a:prstGeom>
          <a:solidFill>
            <a:srgbClr val="E3F1E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148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= Database Management System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651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is software that helps us create, store, retrieve, update, and manage data in a database.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35661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367588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organized data itself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the records of 20,000 students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321040" y="356616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49640" y="3675888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that manages the data</a:t>
            </a:r>
            <a:endParaRPr lang="en-US" sz="2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MySQL, PostgreSQL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51206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4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library's books are like the data; the librarian who finds, adds and tracks books is like the DBMS.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a DBMS?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alone just holds data. The DBMS lets us use it — quickly, correctly and safely.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852160" cy="32004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we need to do?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DBMS helps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student's information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student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student's email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people access the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access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unauthorized access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stored data correct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645920"/>
            <a:ext cx="4846320" cy="950976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737360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wants to find all CSE students.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DBMS retrieves exactly those students in seconds — no manual searching.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66560" y="2724912"/>
            <a:ext cx="4846320" cy="950976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4" name="Text 5"/>
          <p:cNvSpPr txBox="1"/>
          <p:nvPr/>
        </p:nvSpPr>
        <p:spPr>
          <a:xfrm>
            <a:off x="6949440" y="2816352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administrator changes a student's email.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DBMS updates it once, so everyone sees the same correct email.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3803904"/>
            <a:ext cx="4846320" cy="950976"/>
          </a:xfrm>
          <a:prstGeom prst="roundRect">
            <a:avLst>
              <a:gd name="adj" fmla="val 7692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3895344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students check results at once.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DBMS manages access to the shared data — each user sees only what they are allowed to.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stores the data; a DBMS provides the tools to manage and use that data.</a:t>
            </a:r>
            <a:endParaRPr lang="en-US" sz="2100" dirty="0"/>
          </a:p>
          <a:p>
            <a:pPr marL="0" indent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DBMS is not just another name for a database.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DBMS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already have heard these names — each one is DBMS software.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965960"/>
            <a:ext cx="640080" cy="777240"/>
          </a:xfrm>
          <a:prstGeom prst="ca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880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behind websites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98064" y="173736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1965960"/>
            <a:ext cx="640080" cy="777240"/>
          </a:xfrm>
          <a:prstGeom prst="ca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9504" y="2880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6118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open-source DBMS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47488" y="173736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1965960"/>
            <a:ext cx="640080" cy="777240"/>
          </a:xfrm>
          <a:prstGeom prst="ca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38928" y="2880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Database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184648" y="36118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large organizations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96912" y="173736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10144" y="1965960"/>
            <a:ext cx="640080" cy="777240"/>
          </a:xfrm>
          <a:prstGeom prst="ca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88352" y="2880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SQL Server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434072" y="36118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DBMS for businesses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46336" y="1737360"/>
            <a:ext cx="2066544" cy="2651760"/>
          </a:xfrm>
          <a:prstGeom prst="roundRect">
            <a:avLst>
              <a:gd name="adj" fmla="val 3540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59568" y="1965960"/>
            <a:ext cx="640080" cy="777240"/>
          </a:xfrm>
          <a:prstGeom prst="ca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37776" y="288036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683496" y="361188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DBMS built into phones and apps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7548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different software systems used to manage databases.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university database could be managed by any one of them.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Databases: Data in Tables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organizes data into tables.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943600" cy="20116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Anika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160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stores one particular type of related information — this one stores information about students.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5943600" cy="868680"/>
          </a:xfrm>
          <a:prstGeom prst="roundRect">
            <a:avLst>
              <a:gd name="adj" fmla="val 842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983480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tables? 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 are easy to read, search and update — like a very well-organized spreadsheet.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1600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database = a set of tables</a:t>
            </a:r>
            <a:endParaRPr lang="en-US" sz="1700" dirty="0"/>
          </a:p>
        </p:txBody>
      </p:sp>
      <p:sp>
        <p:nvSpPr>
          <p:cNvPr id="5" name="Shape 7"/>
          <p:cNvSpPr/>
          <p:nvPr/>
        </p:nvSpPr>
        <p:spPr>
          <a:xfrm>
            <a:off x="6949440" y="201168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E3F1EF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Name, Department, CGPA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49440" y="2779776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0" y="277977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77977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Course_Code, Title, Credits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949440" y="3547872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0" y="35478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35478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Teacher_ID, Name, Department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949440" y="4315968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0" y="43159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43159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Dept_Name, Building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949440" y="5084064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32320" y="508406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5084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Course_Code, Grade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Tables, Rows, and Columns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Student table — let's name its parts.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66928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Anika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2441448"/>
            <a:ext cx="5760720" cy="557784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38144" y="1920240"/>
            <a:ext cx="1719072" cy="210312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27024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2702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4206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collection of related student records.</a:t>
            </a:r>
            <a:endParaRPr lang="en-US" sz="1500" dirty="0"/>
          </a:p>
        </p:txBody>
      </p:sp>
      <p:sp>
        <p:nvSpPr>
          <p:cNvPr id="5" name="Shape 8"/>
          <p:cNvSpPr/>
          <p:nvPr/>
        </p:nvSpPr>
        <p:spPr>
          <a:xfrm>
            <a:off x="548640" y="491032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9103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4846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record = one student.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101 | Rahim | CSE | 3.70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555040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550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691640" y="5486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property of the records.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Student_ID, Name, Department, CGPA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terms</a:t>
            </a:r>
            <a:endParaRPr lang="en-US" sz="19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965960"/>
          <a:ext cx="457200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Term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Term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040880" y="420624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223760" y="420624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terms will appear throughout the course.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memorize today — you will get used to them.</a:t>
            </a:r>
            <a:endParaRPr lang="en-US" sz="1500" dirty="0"/>
          </a:p>
        </p:txBody>
      </p:sp>
      <p:sp>
        <p:nvSpPr>
          <p:cNvPr id="18" name="Shape 17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7D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uniquely identify each student?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76072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  (PK)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66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can repeat (two students may both be called Rahim) — but every Student_ID is different.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160520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3F1EF"/>
          </a:solidFill>
          <a:ln w="12700">
            <a:solidFill>
              <a:srgbClr val="E3F1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16052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</a:t>
            </a:r>
            <a:r>
              <a:rPr lang="en-US" sz="17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column, or combination of columns, that uniquely identifies each row in a table.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49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377440" y="53492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77440" y="5349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03320" y="53492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4" name="Text 9"/>
          <p:cNvSpPr txBox="1"/>
          <p:nvPr/>
        </p:nvSpPr>
        <p:spPr>
          <a:xfrm>
            <a:off x="3703320" y="5349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0" y="53492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5349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Student_ID be the primary key here?</a:t>
            </a:r>
            <a:endParaRPr lang="en-US" sz="18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194560"/>
          <a:ext cx="365760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858000" y="3657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appears in two rows, so Student_ID cannot tell Rahim and Anika apart.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858000" y="443484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3F5F8"/>
          </a:solidFill>
          <a:ln w="15875">
            <a:solidFill>
              <a:srgbClr val="CFD7D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040880" y="454456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basic rules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— no two rows can have the same value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empty — a primary key can never be NULL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48640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1536192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16" name="Text 19"/>
          <p:cNvSpPr txBox="1"/>
          <p:nvPr/>
        </p:nvSpPr>
        <p:spPr>
          <a:xfrm>
            <a:off x="1536192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523744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523744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511296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11296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498848" y="64008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49884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7955280" y="6400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· Class 1    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Everything Together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A3B55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57400" y="1801368"/>
            <a:ext cx="0" cy="192024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2487168"/>
            <a:ext cx="0" cy="192024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6974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A3B55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57400" y="3172968"/>
            <a:ext cx="0" cy="192024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3832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A3B55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57400" y="3858768"/>
            <a:ext cx="0" cy="192024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0690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A3B55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+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57400" y="4544568"/>
            <a:ext cx="0" cy="192024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7548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of today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178308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large amounts of data.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organize related data into a database.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lets us manage and use that database.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relational database, data is organized into tables.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contain rows and columns.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uniquely identify records.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1325880"/>
            <a:ext cx="3108960" cy="3886200"/>
          </a:xfrm>
          <a:prstGeom prst="roundRect">
            <a:avLst>
              <a:gd name="adj" fmla="val 235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325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F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73252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ER Model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292608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know what tables are. But how do we decide which tables we need and how they should be related?"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→  Database  →  DBMS  →  Tables  →  Rows &amp; Columns  →  Primary Key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1520</Words>
  <Application>Microsoft Office PowerPoint</Application>
  <PresentationFormat>Widescreen</PresentationFormat>
  <Paragraphs>340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 Systems — Class 1</dc:title>
  <dc:subject>PptxGenJS Presentation</dc:subject>
  <dc:creator>Masnoon Muztahid</dc:creator>
  <cp:lastModifiedBy>2005067 - Masnoon Muztahid</cp:lastModifiedBy>
  <cp:revision>2</cp:revision>
  <dcterms:created xsi:type="dcterms:W3CDTF">2026-09-22T07:22:30Z</dcterms:created>
  <dcterms:modified xsi:type="dcterms:W3CDTF">2026-09-22T09:52:45Z</dcterms:modified>
</cp:coreProperties>
</file>