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Last class we learned what a database is and how data lives in tables. Today we answer the natural next question: how do we decide which tables we need?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data, database, DBMS, tables, rows, columns, primary keys. The open question from last class was: how do we know WHICH tables we need? That is what the ER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word 'before'. The ER diagram is a plan, like an architect's drawing. E = Entity, R =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legend for the whole class. Point back to it every time a new shape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difference between the TYPE (Student) and one particular thing (Rahim). We draw the type, not each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= what we store information about. Attribute = what information we store. Ask the class for two more attributes of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reteach primary keys. Just show the notation: the PK attribute is underlined. Ask why Name is a bad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Relationships usually come from verbs in the requirement: enrolls in, teaches, places, borrows.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students find hardest. Go slowly. We only need three patterns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One person has one passport; one passport belongs to one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1 goes next to Department and the N next to Student. Students often put them the wrong way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directly with the previous slide. In 1:N one side is limited to one; in M:N neither side is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takeaway of the class. Make students say the two questions out loud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clearly: this is a practical technique, not a rule that works perfectly for every system. Draw, check, refine.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paragraph aloud. Ask students to underline the nouns mentally before you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ID, name and email are not entities: they are details, they do not exist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sentence 'Each student belongs to one department' — the verb gives the relationship and the word 'one' gives half the cardinality.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once slowly: two rectangles, one diamond, ovals for attributes, keys underlined, 1 and N on the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attempt the two cardinality questions before you reveal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M and N on the two lines. Mention briefly that turning M:N into tables comes in a later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do not memorise diagrams. Memorise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idea. Ask: whose property is the enrollment date? Not the student alone, not the course alone. It belongs to the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attention to where the oval is attached. This is the only new piece of notation in the second half of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structural idea before the big example. One STUDENT rectangle, several lines leaving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integrated example. Read the specification, then let students call out the nouns before revealing 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the two questions four times. Students should notice that three come out 1:N and only one is M:N.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it aloud: Department sits at the top with three 1:N relationships; Student and Course are also joined M:N, and that relationship carries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procedure students should use for every specification they are given, in the lab and in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five-word motto aloud: Read, Identify, Connect, Count, 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3-5 minutes. Walk around the lab. Do NOT advance to the answer slide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only after the attempt. Ask students to compare with their own diagram and identify any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five questions. Next class: turning an ER diagram into real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· DATABASE SYSTEMS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50876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Diagrams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2: Designing a Database Before We Build It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519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Masnoon Muztahid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326880" y="2194560"/>
            <a:ext cx="1554480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326880" y="21945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281160" y="3063240"/>
            <a:ext cx="1645920" cy="9144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77426" y="3337560"/>
            <a:ext cx="10533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326880" y="4251960"/>
            <a:ext cx="1554480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326880" y="42519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04120" y="2798064"/>
            <a:ext cx="0" cy="265176"/>
          </a:xfrm>
          <a:prstGeom prst="line">
            <a:avLst/>
          </a:prstGeom>
          <a:noFill/>
          <a:ln w="15875">
            <a:solidFill>
              <a:srgbClr val="7FD1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04120" y="3977640"/>
            <a:ext cx="0" cy="274320"/>
          </a:xfrm>
          <a:prstGeom prst="line">
            <a:avLst/>
          </a:prstGeom>
          <a:noFill/>
          <a:ln w="15875">
            <a:solidFill>
              <a:srgbClr val="7FD1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0" y="1874520"/>
            <a:ext cx="1325880" cy="475488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00416" y="187452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89720" y="2112264"/>
            <a:ext cx="137160" cy="292608"/>
          </a:xfrm>
          <a:prstGeom prst="line">
            <a:avLst/>
          </a:prstGeom>
          <a:noFill/>
          <a:ln w="15875">
            <a:solidFill>
              <a:srgbClr val="7FD1C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Last Class to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what tables are — but who decides what the tables should be?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KNOW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187452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18745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 we record.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253288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25328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organised collection of that data.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319125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319125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that manages it.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384962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38496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row, column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relational database stores data.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50799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5079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that uniquely identifies a row.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035040" y="1508760"/>
            <a:ext cx="5577840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LEFT OPEN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21488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know what tables are.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how do we decide which tables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need, and how they connect?”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wants to store information about students and courses.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single CREATE TABLE, we should ask three questions: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4160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are the important things?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44897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 we know about them?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309360" y="4818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are they connected?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answer: draw the design first — as an ER diagram — then build the tables.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ER Model?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picture of the real world, drawn before we create any table.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15544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Model = a way to draw the real-world things we store and how they are connected — before making tables.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548640" y="2971800"/>
            <a:ext cx="3291840" cy="178308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world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courses,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departments.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361188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4462272" y="2971800"/>
            <a:ext cx="32918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62272" y="2971800"/>
            <a:ext cx="32918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36592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DRAW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736592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4736592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of those things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connections.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361188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1" name="Shape 28"/>
          <p:cNvSpPr/>
          <p:nvPr/>
        </p:nvSpPr>
        <p:spPr>
          <a:xfrm>
            <a:off x="8375904" y="2971800"/>
            <a:ext cx="3291840" cy="178308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650224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650224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650224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database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from the picture.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letters: E = Entity (a thing)   ·   R = Relationship (how things are connected)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DF1DF"/>
          </a:solidFill>
          <a:ln w="6350">
            <a:solidFill>
              <a:srgbClr val="FDF1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for later: other notations exist, such as Crow’s Foot. Today we use Chen notation only.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 diagram in this course uses only these four shapes. Learn them once.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51560" y="1920240"/>
            <a:ext cx="16002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051560" y="1920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Rectangle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5844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 we store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754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Student, Course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55848" y="160020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04488" y="1965960"/>
            <a:ext cx="150876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41064" y="196596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584448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584448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Oval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3584448" y="35844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that describes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3584448" y="4754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Name, Email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63056" y="160020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74536" y="1965960"/>
            <a:ext cx="178308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11112" y="196596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391656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391656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Underlined oval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6391656" y="35844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that makes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unique.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391656" y="4754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Student_ID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970264" y="160020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290304" y="1783080"/>
            <a:ext cx="1965960" cy="96012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644177" y="2071116"/>
            <a:ext cx="1258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198864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9198864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Diamond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9198864" y="35844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entities are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connected.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9198864" y="4754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enrolls in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one more marking: cardinality — the numbers 1, M and N written on the connecting lines.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Entity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is a real-world thing we want to store information about.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 =  a “thing” worth storing information about.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304288" y="30632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304288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059936" y="30632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59936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3630168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630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304288" y="3630168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304288" y="3630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059936" y="3630168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059936" y="3630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343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an entity is drawn as a rectangle.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4709160"/>
            <a:ext cx="219456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54864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035040" y="1554480"/>
            <a:ext cx="55778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0936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vs ENTITY INSTANCE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309360" y="2103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 is the type. An instance is one particular one.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309360" y="2514600"/>
            <a:ext cx="201168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309360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63093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235440" y="25146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2354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Rahim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 flipV="1">
            <a:off x="8321040" y="2743200"/>
            <a:ext cx="914400" cy="109728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235440" y="308152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35440" y="30815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8321040" y="2852928"/>
            <a:ext cx="914400" cy="45720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235440" y="364845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235440" y="3648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Anika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8321040" y="2852928"/>
            <a:ext cx="914400" cy="1024128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23544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instances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6309360" y="4709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diagram we draw only the rectangle STUDENT — never one rectangle per person.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Attribute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is a piece of information that describes an entity.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= what we store information about      ·      Attribute = what information we store about it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892040" y="4297680"/>
            <a:ext cx="237744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892040" y="4297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463040" y="2606040"/>
            <a:ext cx="1828800" cy="5943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99616" y="2606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377440" y="3200400"/>
            <a:ext cx="3703320" cy="109728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03320" y="2606040"/>
            <a:ext cx="1828800" cy="5943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39896" y="2606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17720" y="3200400"/>
            <a:ext cx="1463040" cy="109728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0" y="2606040"/>
            <a:ext cx="1828800" cy="5943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80176" y="2606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 flipH="1">
            <a:off x="6080760" y="3200400"/>
            <a:ext cx="777240" cy="109728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83880" y="2606040"/>
            <a:ext cx="1828800" cy="5943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0456" y="2606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 flipH="1">
            <a:off x="6080760" y="3200400"/>
            <a:ext cx="3017520" cy="109728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52578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each attribute is an oval, joined by a line to its entity.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0241280" y="416052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287000" y="41605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Phone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DF1DF"/>
          </a:solidFill>
          <a:ln w="6350">
            <a:solidFill>
              <a:srgbClr val="FDF1D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thumb: if it is a detail about something, it is an attribute — not a new entity.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Primary Key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 from last class — here is how we draw 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important entity needs one attribute that makes each instance unique.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NAME?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20040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2004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200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 102, 103 — never repeats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8620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8862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86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can both be “Rahim”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45720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4572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but long and can change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035040" y="1554480"/>
            <a:ext cx="55778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0936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UNDERLINE THE KEY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589520" y="3977640"/>
            <a:ext cx="237744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58952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55080" y="2377440"/>
            <a:ext cx="123444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91656" y="2377440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972300" y="2907792"/>
            <a:ext cx="1805940" cy="106984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80960" y="2377440"/>
            <a:ext cx="123444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717536" y="2377440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98180" y="2907792"/>
            <a:ext cx="480060" cy="106984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06840" y="2377440"/>
            <a:ext cx="123444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43416" y="2377440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778240" y="2907792"/>
            <a:ext cx="845820" cy="106984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332720" y="2377440"/>
            <a:ext cx="123444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369296" y="2377440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778240" y="2907792"/>
            <a:ext cx="2171700" cy="106984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309360" y="4864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is underlined — that marks it as the primary key.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Relationship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shows how two entities are connected.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for the verb: Student  enrolls in  Course. The verb is the relationship.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600200" y="2788920"/>
            <a:ext cx="219456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60020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26280" y="2514600"/>
            <a:ext cx="2468880" cy="132588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70678" y="2912364"/>
            <a:ext cx="15800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726680" y="2788920"/>
            <a:ext cx="219456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2668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794760" y="3177540"/>
            <a:ext cx="73152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6995160" y="3177540"/>
            <a:ext cx="73152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977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a relationship is a diamond between the two entities.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EVERYDAY EXAMPLES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8920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48920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pPr algn="ctr" indent="0" marL="0">
              <a:buNone/>
            </a:pPr>
            <a:r>
              <a:rPr lang="en-US" sz="14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teaches —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462272" y="48920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45152" y="48920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pPr algn="ctr" indent="0" marL="0">
              <a:buNone/>
            </a:pPr>
            <a:r>
              <a:rPr lang="en-US" sz="14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places —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375904" y="48920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558784" y="48920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pPr algn="ctr" indent="0" marL="0">
              <a:buNone/>
            </a:pPr>
            <a:r>
              <a:rPr lang="en-US" sz="14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borrows —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Cardinality: How Many?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tells us how many instances of one entity connect to another.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that two entities are connected is not enough. We must also say how many can be connected.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1148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— Passport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4622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has one passport.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27889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90872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4690872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690872" y="41148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— Student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690872" y="44622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department, many students.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375904" y="27889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04504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: N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8604504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604504" y="41148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— Course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604504" y="44622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students, many courses.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use only these three patterns today. Let us look at each one with a picture.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 (1 : 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on each side — the rarest of the three.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 has exactly one B, and one B belongs to exactly one A.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463040" y="3063240"/>
            <a:ext cx="228600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463040" y="3063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0" y="2788920"/>
            <a:ext cx="2743200" cy="13716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65776" y="320040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138160" y="3063240"/>
            <a:ext cx="228600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138160" y="3063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PASSPORT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 flipV="1">
            <a:off x="3749040" y="3474720"/>
            <a:ext cx="82296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0" y="3474720"/>
            <a:ext cx="82296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40480" y="31272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498080" y="31272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389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 on each line means: only one instance can be connected on that side.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8920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48920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passports can one person have? 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263640" y="48920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48920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people can one passport belong to? 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 (1 : N)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 one side, many on the other — the most common pattern.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department can have many students, but each student belongs to only one department.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05840" y="3017520"/>
            <a:ext cx="246888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0584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43400" y="2743200"/>
            <a:ext cx="2651760" cy="13716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20717" y="3154680"/>
            <a:ext cx="16971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863840" y="3017520"/>
            <a:ext cx="246888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86384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474720" y="3429000"/>
            <a:ext cx="86868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95160" y="3429000"/>
            <a:ext cx="86868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1880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simply means “many”.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45720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45720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students can one department have?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 →  N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263640" y="45720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45720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departments can one student belong to?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→  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  (M : N)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on both sides — very common in real systems.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student can enrol in many courses, and one course can have many students.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97280" y="3017520"/>
            <a:ext cx="228600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9728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51960" y="2743200"/>
            <a:ext cx="2743200" cy="13716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45736" y="315468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863840" y="3017520"/>
            <a:ext cx="228600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8638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383280" y="3429000"/>
            <a:ext cx="86868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95160" y="3429000"/>
            <a:ext cx="86868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20440" y="3081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3081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0233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N both mean “many” — two different letters because the two amounts need not be equal.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5720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45720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courses can one student enrol in?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 →  M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263640" y="45720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45720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students can one course have?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 →  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Two-Question Technique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guess cardinality. Ask these two questions — every single time.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08760"/>
            <a:ext cx="5349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1508760"/>
            <a:ext cx="5349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1737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RELATIONSHIP  A — B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21031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
</a:t>
            </a:r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many B’s can one A have?”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285292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
</a:t>
            </a:r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many A’s can one B have?”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1508760"/>
            <a:ext cx="5349240" cy="2240280"/>
          </a:xfrm>
          <a:prstGeom prst="roundRect">
            <a:avLst>
              <a:gd name="adj" fmla="val 2449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has — Student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21031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One department → many students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24414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One student → one department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92240" y="288036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288036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1 : N Student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263640" y="3886200"/>
            <a:ext cx="5349240" cy="2240280"/>
          </a:xfrm>
          <a:prstGeom prst="roundRect">
            <a:avLst>
              <a:gd name="adj" fmla="val 2449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92240" y="4069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enrolls in — Course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44805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One student → many courses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48188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One course → many students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92240" y="525780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52578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 : N Course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48640" y="39776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397764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answer both questions.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direction alone cannot decide the cardinality.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544068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440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answers down before drawing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Turn a Requirement into an ER Diagram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five-step routine you can follow every time.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6916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1627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important nouns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19385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usually your entities.  →  Student, Course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2395728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2395728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2468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details describing them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27797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attributes.  →  Name, Email, CGPA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3236976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9808" y="337413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33101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unique identifiers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417320" y="36210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primary keys.  →  Student_ID (underlined)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4078224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4078224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9808" y="4215384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417320" y="41513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verbs / connections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1417320" y="4462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relationships.  →  enrolls in, belongs to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48640" y="4919472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9808" y="50566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49808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1417320" y="4992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“How many?” in both directions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417320" y="53035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cardinality.  →  1:1, 1:N or M:N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0744200" y="1554480"/>
            <a:ext cx="868680" cy="4133088"/>
          </a:xfrm>
          <a:prstGeom prst="roundRect">
            <a:avLst>
              <a:gd name="adj" fmla="val 6316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744200" y="1554480"/>
            <a:ext cx="86868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4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58064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practical technique that works for small systems — not a rule that fits every possible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The Requirement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carefully first. Do not draw anything yet.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160020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217627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university stores information about students. Each student has a Student ID, name, email and CGPA. Each student belongs to one department. A department has a department ID and a department name.”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DO NEXT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023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Entities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624328" y="4023360"/>
            <a:ext cx="118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761488" y="40233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61488" y="4023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Attributes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37176" y="4023360"/>
            <a:ext cx="118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974336" y="40233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974336" y="4023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Primary keys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050024" y="4023360"/>
            <a:ext cx="118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187184" y="40233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87184" y="4023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Relationship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262872" y="4023360"/>
            <a:ext cx="118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400032" y="40233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400032" y="4023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Cardinality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DF1DF"/>
          </a:solidFill>
          <a:ln w="6350">
            <a:solidFill>
              <a:srgbClr val="FDF1D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first: which words in that paragraph are the important “things”?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Steps 1 to 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then attributes, then primary keys.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ENTITIES (the important nouns)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1783080"/>
            <a:ext cx="219456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4864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017520" y="1783080"/>
            <a:ext cx="237744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01752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52160" y="178308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1783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“name” or “email”? They only describe a student — they are details, not things.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ATTRIBUTES      STEP 3 · PRIMARY KEYS (underlined)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297180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31272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749040" y="356616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4904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" y="3995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60120" y="4910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263640" y="297180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37960" y="31272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6675120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9464040" y="356616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675120" y="3995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617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attribute is a detail taken straight from the sentence.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steps 4 and 5 — the relationship and how many.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Steps 4 and 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relationship, then the two questions.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RELATIONSHIP (find the verb)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18288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“Each student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department.”      →   relationship: 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CARDINALITY (ask both questions)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0175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30175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many departments can one student belong to?
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63640" y="30175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30175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many students can belong to one department?
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46177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46177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Therefore:     DEPARTMENT   1  :  N   STUDENT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 goes on the department side, the N on the student side.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Final ER Diagram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steps put together in one picture.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3017520"/>
            <a:ext cx="210312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1828800"/>
            <a:ext cx="132588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93776" y="182880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965960" y="1828800"/>
            <a:ext cx="146304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02536" y="18288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120140" y="2377440"/>
            <a:ext cx="388620" cy="64008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>
            <a:off x="1965960" y="2377440"/>
            <a:ext cx="731520" cy="64008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0" y="2770632"/>
            <a:ext cx="2651760" cy="132588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134917" y="3168396"/>
            <a:ext cx="16971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315200" y="3017520"/>
            <a:ext cx="219456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31520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2788920" y="3429000"/>
            <a:ext cx="868680" cy="4572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6309360" y="3429000"/>
            <a:ext cx="1005840" cy="4572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926080" y="30723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30723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943600" y="4572000"/>
            <a:ext cx="128016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80176" y="45720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 flipV="1">
            <a:off x="6583680" y="3840480"/>
            <a:ext cx="1828800" cy="73152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60920" y="4572000"/>
            <a:ext cx="128016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97496" y="45720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 flipV="1">
            <a:off x="8001000" y="3840480"/>
            <a:ext cx="411480" cy="73152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778240" y="4572000"/>
            <a:ext cx="128016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814816" y="45720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 flipH="1" flipV="1">
            <a:off x="8412480" y="3840480"/>
            <a:ext cx="1005840" cy="73152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195560" y="4572000"/>
            <a:ext cx="128016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32136" y="45720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 flipH="1" flipV="1">
            <a:off x="8412480" y="3840480"/>
            <a:ext cx="2423160" cy="73152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48640" y="557784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77240" y="5577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oval = primary key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5806440" y="5577840"/>
            <a:ext cx="5806440" cy="594360"/>
          </a:xfrm>
          <a:prstGeom prst="roundRect">
            <a:avLst>
              <a:gd name="adj" fmla="val 9231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035040" y="55778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 one department has many students.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— Requirement and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method, a different answer for cardinality.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1554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university stores students and courses. Each student has a Student ID and name. Each course has a Course ID and course title. A student can enrol in many courses, and a course can have many students.”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48640" y="27432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28529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ENTITIES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154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63640" y="27432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28529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ATTRIBUTES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3154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Student_ID, Name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Course_ID, Course_Title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395020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0599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PRIMARY KEYS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361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63640" y="395020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92240" y="40599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RELATIONSHIP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4361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ENROLLS_IN — Course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one student → many courses.    Q2: one course → many students.    Therefore:  </a:t>
            </a:r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: 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— Final ER Diagram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many-to-many relationship between Student and Course.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19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00400"/>
            <a:ext cx="210312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4864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11480" y="1965960"/>
            <a:ext cx="137160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" y="19659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920240" y="1965960"/>
            <a:ext cx="128016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56816" y="196596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97280" y="2514600"/>
            <a:ext cx="274320" cy="68580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>
            <a:off x="1828800" y="2514600"/>
            <a:ext cx="731520" cy="68580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0" y="2926080"/>
            <a:ext cx="2743200" cy="13716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91456" y="333756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686800" y="3200400"/>
            <a:ext cx="219456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68680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183880" y="1965960"/>
            <a:ext cx="146304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0456" y="196596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829800" y="1965960"/>
            <a:ext cx="1737360" cy="54864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66376" y="196596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Course_Title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915400" y="2514600"/>
            <a:ext cx="640080" cy="68580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10012680" y="2514600"/>
            <a:ext cx="685800" cy="68580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51760" y="3611880"/>
            <a:ext cx="164592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40880" y="3611880"/>
            <a:ext cx="164592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15468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754380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548640" y="4709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2960" y="47091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many students enrol in many courses — neither side is limited to one.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DF1DF"/>
          </a:solidFill>
          <a:ln w="6350">
            <a:solidFill>
              <a:srgbClr val="FDF1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later: when we convert this to tables, an M:N relationship becomes an extra table. Not today.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the Pattern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examples, same five steps — different cardinality.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  1 : N   STUDENT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2834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side was limited to one.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63640" y="16002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6002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3796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  M : N   COURSE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834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side was limited.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374904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374904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important skill is not memorising diagrams.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extracting entities, attributes, relationships and cardinality from a requirement.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· different system · different diagram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detail that belongs to neither entity — it belongs to the relationship between them.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 Can Belong to Relationships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detail does not describe either entity — it describes the connection.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1554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each enrollment, the university stores the date the student enrolled in that course.”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251460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ATTRIBUTE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2926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one entity.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32004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 →  Student_Name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286000" y="3566160"/>
            <a:ext cx="18288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22860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057400" y="4297680"/>
            <a:ext cx="2286000" cy="50292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93976" y="4297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Student_Name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00400" y="4114800"/>
            <a:ext cx="0" cy="18288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63640" y="251460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251460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3796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ATTRIBUTE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2926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connection between two entities.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32004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— ENROLLS_IN — Course  →  Enrollment_Date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537960" y="3611880"/>
            <a:ext cx="13716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653796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092440" y="3493008"/>
            <a:ext cx="1828800" cy="749808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421624" y="3717950"/>
            <a:ext cx="1170432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10104120" y="3611880"/>
            <a:ext cx="132588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10104120" y="3611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909560" y="3863340"/>
            <a:ext cx="182880" cy="4572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9921240" y="3863340"/>
            <a:ext cx="182880" cy="4572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83880" y="4370832"/>
            <a:ext cx="1645920" cy="43891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0456" y="437083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006840" y="4242816"/>
            <a:ext cx="0" cy="128016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DF1DF"/>
          </a:solidFill>
          <a:ln w="6350">
            <a:solidFill>
              <a:srgbClr val="FDF1D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 The same student can enrol in different courses on different dates — so the date cannot belong to Student.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Attribute — Full Example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oval hangs from the diamond, not from either rectangle.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1508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student can enrol in many courses, and a course can have many students. For each enrollment, the university stores the date the student enrolled.”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97280" y="2971800"/>
            <a:ext cx="219456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9728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434840" y="2697480"/>
            <a:ext cx="2743200" cy="13716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28616" y="310896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21040" y="2971800"/>
            <a:ext cx="219456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32104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291840" y="3383280"/>
            <a:ext cx="114300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78040" y="3383280"/>
            <a:ext cx="114300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66160" y="30266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406640" y="30266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4617720" y="4617720"/>
            <a:ext cx="2377440" cy="566928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54296" y="46177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806440" y="4069080"/>
            <a:ext cx="0" cy="5486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461772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7240" y="46177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diamond — not to a rectangle.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589520" y="461772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818120" y="46177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 one student in one course.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if a detail only makes sense for a pair of entities together, it belongs to the relationship.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Entity Can Have Many Relationships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rectangle is not limited to a single connection.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2331720"/>
            <a:ext cx="192024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48640" y="2331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017520" y="2263140"/>
            <a:ext cx="1645920" cy="9144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13786" y="2537460"/>
            <a:ext cx="10533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212080" y="2331720"/>
            <a:ext cx="192024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212080" y="2331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80960" y="2263140"/>
            <a:ext cx="1645920" cy="91440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77226" y="2537460"/>
            <a:ext cx="10533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875520" y="2331720"/>
            <a:ext cx="173736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87552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468880" y="2720340"/>
            <a:ext cx="54864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4663440" y="2720340"/>
            <a:ext cx="54864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0" y="2720340"/>
            <a:ext cx="54864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9326880" y="2720340"/>
            <a:ext cx="54864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514600" y="2386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709160" y="2386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7178040" y="2386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372600" y="2386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172200" y="3108960"/>
            <a:ext cx="0" cy="502920"/>
          </a:xfrm>
          <a:prstGeom prst="line">
            <a:avLst/>
          </a:prstGeom>
          <a:noFill/>
          <a:ln w="15875">
            <a:solidFill>
              <a:srgbClr val="5B6573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5440680" y="3611880"/>
            <a:ext cx="1463040" cy="7315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B6573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669280" y="3831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172200" y="4343400"/>
            <a:ext cx="0" cy="365760"/>
          </a:xfrm>
          <a:prstGeom prst="line">
            <a:avLst/>
          </a:prstGeom>
          <a:noFill/>
          <a:ln w="15875">
            <a:solidFill>
              <a:srgbClr val="5B6573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5486400" y="470916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573"/>
            </a:solidFill>
            <a:prstDash val="dash"/>
          </a:ln>
        </p:spPr>
      </p:sp>
      <p:sp>
        <p:nvSpPr>
          <p:cNvPr id="41" name="Text 38"/>
          <p:cNvSpPr txBox="1"/>
          <p:nvPr/>
        </p:nvSpPr>
        <p:spPr>
          <a:xfrm>
            <a:off x="5486400" y="4709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434340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relationship the same Student could have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48640" y="361188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77240" y="36118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Student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one Department and enrols in many Courses — at the same time.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315200" y="361188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543800" y="36118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copied. One STUDENT rectangle simply has more lines leaving it.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entity can take part in as many relationships as the system needs.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 — A University Database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requirement, four entities, four relationships.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481328"/>
            <a:ext cx="11064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1481328"/>
            <a:ext cx="11064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16276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university database stores information about Students, Courses, Instructors and Departments.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19933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Each Student belongs to one Department · a Department has many Students.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23042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Each Course belongs to one Department · a Department offers many Courses.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26151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Each Instructor belongs to one Department · a Department has many Instructors.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2926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 Student can enrol in many Courses · a Course can have many Students.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323697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For each enrollment, the university stores the Enrollment_Date.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767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FIND THE NOUNS → FOUR ENTITIES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069080"/>
            <a:ext cx="256032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4864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383280" y="4069080"/>
            <a:ext cx="256032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338328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17920" y="4069080"/>
            <a:ext cx="256032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21792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052560" y="4069080"/>
            <a:ext cx="256032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905256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FIND THE VERBS → FOUR RELATIONSHIPS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5193792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51937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Department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383280" y="5193792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520440" y="51937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Course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217920" y="5193792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55080" y="51937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Department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052560" y="5193792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89720" y="51937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Course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Database — Steps 3 and 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for each relationship, then the relationship attribute.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CARDINALITY — ASK BOTH QUESTIONS EVERY TIME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1783080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1938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Student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22860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One Department → many Students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28529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One Student → one Department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9808" y="35204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355848" y="1783080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57016" y="1938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Course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57016" y="22860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One Department → many Courses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3557016" y="28529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One Course → one Department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557016" y="35204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557016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163056" y="1783080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64224" y="1938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Instructor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364224" y="22860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One Department → many Instructors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364224" y="28529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One Instructor → one Department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364224" y="35204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64224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8970264" y="1783080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970264" y="1783080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171432" y="1938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Course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171432" y="22860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One Student → many Courses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171432" y="28529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One Course → many Students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171432" y="35204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71432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: N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DOES ANYTHING DESCRIBE THE CONNECTION ITSELF?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8680" y="47091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describe the Student, and it does not describe the Course.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 one student enrolling in one course — so it belongs to the 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 relationship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Database — Complete ER Diagram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entities, four relationships — entity attributes left out so the structure stays clear.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1536192"/>
            <a:ext cx="237744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846320" y="15361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554480" y="2560320"/>
            <a:ext cx="1828800" cy="82296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883664" y="28072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120640" y="2560320"/>
            <a:ext cx="1828800" cy="82296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49824" y="28072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686800" y="2560320"/>
            <a:ext cx="1828800" cy="82296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15984" y="28072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flipH="1">
            <a:off x="2468880" y="2221992"/>
            <a:ext cx="2560320" cy="33832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35040" y="2221992"/>
            <a:ext cx="0" cy="33832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40880" y="2221992"/>
            <a:ext cx="2560320" cy="33832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71600" y="3703320"/>
            <a:ext cx="219456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137160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937760" y="3703320"/>
            <a:ext cx="219456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93776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503920" y="3703320"/>
            <a:ext cx="219456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50392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2468880" y="3383280"/>
            <a:ext cx="0" cy="32004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3383280"/>
            <a:ext cx="0" cy="32004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601200" y="3383280"/>
            <a:ext cx="0" cy="32004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14800" y="2057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2560320" y="34015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12648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6126480" y="34015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7635240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9692640" y="34015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3291840" y="4754880"/>
            <a:ext cx="1920240" cy="77724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637483" y="4988052"/>
            <a:ext cx="1228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ENROLLS_IN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468880" y="4434840"/>
            <a:ext cx="822960" cy="70866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H="1">
            <a:off x="5212080" y="4434840"/>
            <a:ext cx="822960" cy="70866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337560" y="5687568"/>
            <a:ext cx="1828800" cy="45720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374136" y="568756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51960" y="5532120"/>
            <a:ext cx="0" cy="15544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651760" y="4462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0" y="4462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7589520" y="475488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818120" y="4754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 is joined to the diamond — it describes the enrollment, not the student and not the course.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Requirement to ER Diagram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routine as before — with one extra question added today.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53619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163677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1636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15361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important nouns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15361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Entities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21762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" y="227685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21762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details about them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2176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Attributes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8640" y="281635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" y="291693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980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25880" y="281635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unique identifiers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28163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Primary Keys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8640" y="345643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" y="355701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325880" y="345643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actions and connections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7040880" y="34564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Relationships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8640" y="40965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49808" y="41970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980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0965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“How many?” in both directions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7040880" y="40965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Cardinality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48640" y="473659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49808" y="4837176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49808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1325880" y="47365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whether anything describes the connection itself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7040880" y="47365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Relationship Attribute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0241280" y="486460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241280" y="4864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TODAY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48640" y="53766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49808" y="547725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4980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325880" y="53766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everything into one picture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040880" y="53766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The ER Diagram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order for every database specification you are given.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and a Checklist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traps to avoid — and seven questions to ask before you submit.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28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MISTAKES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178308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178308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1783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every noun as an entity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noun becomes a rectangle.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2542032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254203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25420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an attribute as an entity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“Name” describes a student — it is an attribute.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30098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3300984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33009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primary key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entity needs a unique identifier.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4059936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4059936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" y="405993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cardinality from one side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both questions.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818888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" y="4818888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481888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before reading properly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requirement first.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35508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SUBMIT, ASK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355080" y="1783080"/>
            <a:ext cx="52578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55080" y="1783080"/>
            <a:ext cx="52578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29400" y="2084832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95160" y="2011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identify the main entities?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629400" y="2569464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95160" y="24963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entity have its attributes?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629400" y="3054096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95160" y="29809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entity have a primary key?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629400" y="353872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995160" y="34655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identify the relationships?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6629400" y="4023360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995160" y="3950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cardinality both ways?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629400" y="4507992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995160" y="44348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my relationship names meaningful?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629400" y="4992624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995160" y="49194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diagram match the requirement?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48640" y="56692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the order:     Read  →  Identify  →  Connect  →  Count  →  Draw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Practice Exercise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paper for the next 3–5 minutes. Do not look ahead.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29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16002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16002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library has Members and Books. Each book has a Book ID, title and author. Each member has a Member ID, name and email. A member can borrow many books, and a book can be borrowed by different members over time. For each borrowing, the library records the Borrow_Date.”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THESE FIVE THINGS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3832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44168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4416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069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761488" y="33832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57016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57016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761488" y="4069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primary keys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974336" y="33832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69864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76986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974336" y="4069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187184" y="33832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82712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98271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7187184" y="4069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9400032" y="33832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DF1DF"/>
          </a:solidFill>
          <a:ln w="9525">
            <a:solidFill>
              <a:srgbClr val="FDF1D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195560" y="352044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1955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400032" y="4069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68680" y="4983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draw the ER diagram: rectangles for entities, ovals for attributes, a diamond for the relationship, keys underlined, the numbers on the lines — and remember where Borrow_Date belongs.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Answer and Discussion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— and the borrow date belongs to the relationship.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0056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10528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640080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6400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64008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2      30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017520"/>
            <a:ext cx="210312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4008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11480" y="2011680"/>
            <a:ext cx="141732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" y="2011680"/>
            <a:ext cx="1344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965960" y="2011680"/>
            <a:ext cx="114300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02536" y="2011680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46120" y="2011680"/>
            <a:ext cx="114300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82696" y="2011680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120140" y="2542032"/>
            <a:ext cx="571500" cy="47548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>
            <a:off x="1691640" y="2542032"/>
            <a:ext cx="845820" cy="47548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1691640" y="2542032"/>
            <a:ext cx="2125980" cy="47548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34840" y="2743200"/>
            <a:ext cx="2651760" cy="1325880"/>
          </a:xfrm>
          <a:prstGeom prst="diamond">
            <a:avLst/>
          </a:prstGeom>
          <a:solidFill>
            <a:srgbClr val="FDF1D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912157" y="3140964"/>
            <a:ext cx="16971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732520" y="3017520"/>
            <a:ext cx="210312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73252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269480" y="2011680"/>
            <a:ext cx="128016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06056" y="201168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686800" y="2011680"/>
            <a:ext cx="118872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23376" y="2011680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012680" y="2011680"/>
            <a:ext cx="1280160" cy="530352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49256" y="201168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909560" y="2542032"/>
            <a:ext cx="1874520" cy="47548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281160" y="2542032"/>
            <a:ext cx="502920" cy="47548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9784080" y="2542032"/>
            <a:ext cx="868680" cy="475488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743200" y="3406140"/>
            <a:ext cx="169164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7086600" y="3406140"/>
            <a:ext cx="164592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246120" y="30723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7635240" y="30723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4892040" y="4224528"/>
            <a:ext cx="1737360" cy="50292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928616" y="422452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Borrow_Date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760720" y="4069080"/>
            <a:ext cx="0" cy="15544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" y="50292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77240" y="5029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many books can one member borrow?  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many members can borrow one book?  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(over time).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263640" y="50292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3F1EF"/>
          </a:solidFill>
          <a:ln w="9525">
            <a:solidFill>
              <a:srgbClr val="E3F1E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263640" y="502920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  M : N   BOOK
</a:t>
            </a:r>
            <a:pPr algn="ctr"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Borrow_Date belongs to the BORROWS relationship</a:t>
            </a:r>
            <a:endParaRPr lang="en-US" sz="20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your diagram match? A different relationship name such as BORROWED_BY is also acceptable — the shapes, the cardinality and where Borrow_Date sits are what matter.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in Six Questions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612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nothing else from today, remember these.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31520" y="1691640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24354F"/>
          </a:solidFill>
          <a:ln w="6350">
            <a:solidFill>
              <a:srgbClr val="2435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79222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69164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things do we store?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16916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Entities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31520" y="2350008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24354F"/>
          </a:solidFill>
          <a:ln w="6350">
            <a:solidFill>
              <a:srgbClr val="2435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4505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35000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know about them?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3500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Attributes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31520" y="3008376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24354F"/>
          </a:solidFill>
          <a:ln w="6350">
            <a:solidFill>
              <a:srgbClr val="2435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00837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identify each one?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30083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Primary Key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31520" y="3666744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24354F"/>
          </a:solidFill>
          <a:ln w="6350">
            <a:solidFill>
              <a:srgbClr val="2435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376732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63040" y="366674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they connected?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0" y="366674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Relationships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31520" y="4325112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24354F"/>
          </a:solidFill>
          <a:ln w="6350">
            <a:solidFill>
              <a:srgbClr val="2435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425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432511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can be connected?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498080" y="43251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Cardinality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731520" y="4983480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24354F"/>
          </a:solidFill>
          <a:ln w="6350">
            <a:solidFill>
              <a:srgbClr val="24354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08406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98348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describes the connection itself?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498080" y="4983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Relationship Attribute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56875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 →  Entity  →  Attribute  →  Key  →  Relationship  →  Cardinality  →  Rel. Attribute  →  ER Diagram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61996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turning an ER diagram into real database tables.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Diagrams — Database Systems Class 2</dc:title>
  <dc:subject>PptxGenJS Presentation</dc:subject>
  <dc:creator>Masnoon Muztahid</dc:creator>
  <cp:lastModifiedBy>Masnoon Muztahid</cp:lastModifiedBy>
  <cp:revision>1</cp:revision>
  <dcterms:created xsi:type="dcterms:W3CDTF">2026-09-28T10:19:59Z</dcterms:created>
  <dcterms:modified xsi:type="dcterms:W3CDTF">2026-09-28T10:19:59Z</dcterms:modified>
</cp:coreProperties>
</file>