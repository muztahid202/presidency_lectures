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092" autoAdjust="0"/>
  </p:normalViewPr>
  <p:slideViewPr>
    <p:cSldViewPr snapToGrid="0" snapToObjects="1">
      <p:cViewPr varScale="1">
        <p:scale>
          <a:sx n="67" d="100"/>
          <a:sy n="67" d="100"/>
        </p:scale>
        <p:origin x="11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42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design pattern is a well-known solution to a common design problem. Strategy: define a family of </a:t>
            </a:r>
            <a:r>
              <a:rPr lang="en-US" dirty="0" err="1"/>
              <a:t>behaviours</a:t>
            </a:r>
            <a:r>
              <a:rPr lang="en-US" dirty="0"/>
              <a:t> behind one interface, and choose one at run time. checkout() works with any payment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unit test calls your code with known input and checks the result automatically. JUnit runs all tests with one click. If a later change breaks deposit(), the test fails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" y="1874519"/>
            <a:ext cx="3017520" cy="3017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744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1325880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2C9CC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83080"/>
            <a:ext cx="7223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From Writing Code to Building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429000"/>
            <a:ext cx="7132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2C9CC"/>
                </a:solidFill>
                <a:latin typeface="Calibri"/>
              </a:rPr>
              <a:t>What software engineering is, what we'll build this semester, and the core ideas,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0"/>
            <a:ext cx="7132320" cy="856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Masnoon Muztahid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Lecturer, Department of Computer Science and Engineering</a:t>
            </a:r>
          </a:p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Presidency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Programming vs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8E1B22"/>
                </a:solidFill>
                <a:latin typeface="Calibri"/>
              </a:rPr>
              <a:t>Programming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Calibri"/>
              </a:rPr>
              <a:t>Writing code that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Usually one person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A small program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Works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37160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1" y="15727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B3A6B"/>
                </a:solidFill>
                <a:latin typeface="Calibri"/>
              </a:rPr>
              <a:t>Software Engineering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Calibri"/>
              </a:rPr>
              <a:t>Building software that keeps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1" y="269748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A team of people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A large system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Tested, documented and easy to change for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Software Engineering  =  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programming + planning + teamwork +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How Real Software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947672" cy="30175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144" y="1920240"/>
            <a:ext cx="731520" cy="73152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67335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Requirements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What should it do?</a:t>
            </a:r>
          </a:p>
        </p:txBody>
      </p:sp>
      <p:sp>
        <p:nvSpPr>
          <p:cNvPr id="8" name="Chevron 7"/>
          <p:cNvSpPr/>
          <p:nvPr/>
        </p:nvSpPr>
        <p:spPr>
          <a:xfrm>
            <a:off x="2523744" y="2971800"/>
            <a:ext cx="274320" cy="365760"/>
          </a:xfrm>
          <a:prstGeom prst="chevron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40" y="1645920"/>
            <a:ext cx="1947672" cy="30175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38144" y="1920240"/>
            <a:ext cx="731520" cy="73152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880360"/>
            <a:ext cx="167335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Design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How will it be organized?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9744" y="2971800"/>
            <a:ext cx="274320" cy="365760"/>
          </a:xfrm>
          <a:prstGeom prst="chevron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1947672" cy="30175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24144" y="1920240"/>
            <a:ext cx="731520" cy="73152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880360"/>
            <a:ext cx="167335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Implementation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Write the code</a:t>
            </a:r>
          </a:p>
        </p:txBody>
      </p:sp>
      <p:sp>
        <p:nvSpPr>
          <p:cNvPr id="16" name="Chevron 15"/>
          <p:cNvSpPr/>
          <p:nvPr/>
        </p:nvSpPr>
        <p:spPr>
          <a:xfrm>
            <a:off x="7095744" y="2971800"/>
            <a:ext cx="274320" cy="365760"/>
          </a:xfrm>
          <a:prstGeom prst="chevron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0" y="1645920"/>
            <a:ext cx="1947672" cy="30175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10144" y="1920240"/>
            <a:ext cx="731520" cy="73152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880360"/>
            <a:ext cx="167335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Testing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Does it really work?</a:t>
            </a:r>
          </a:p>
        </p:txBody>
      </p:sp>
      <p:sp>
        <p:nvSpPr>
          <p:cNvPr id="20" name="Chevron 19"/>
          <p:cNvSpPr/>
          <p:nvPr/>
        </p:nvSpPr>
        <p:spPr>
          <a:xfrm>
            <a:off x="9381744" y="2971800"/>
            <a:ext cx="274320" cy="365760"/>
          </a:xfrm>
          <a:prstGeom prst="chevron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92640" y="1645920"/>
            <a:ext cx="1947672" cy="30175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96144" y="1920240"/>
            <a:ext cx="731520" cy="73152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880360"/>
            <a:ext cx="167335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Delivery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Document and hand 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solidFill>
                  <a:srgbClr val="222222"/>
                </a:solidFill>
                <a:latin typeface="Calibri"/>
              </a:rPr>
              <a:t>In this lab, your team will go through </a:t>
            </a:r>
            <a:r>
              <a:rPr sz="2100" b="1" i="0">
                <a:solidFill>
                  <a:srgbClr val="222222"/>
                </a:solidFill>
                <a:latin typeface="Calibri"/>
              </a:rPr>
              <a:t>every step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on a real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What This Lab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645920"/>
            <a:ext cx="594360" cy="59436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Modularity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Break a big program into small parts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1371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08575" y="1645920"/>
            <a:ext cx="594360" cy="59436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5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Specification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Say exactly what each part must 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3716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94192" y="1645920"/>
            <a:ext cx="594360" cy="59436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Data Abstraction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Hide the details, show a simple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4114800"/>
            <a:ext cx="594360" cy="59436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463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Object Modeling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Model the real world as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5" y="38404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08575" y="4114800"/>
            <a:ext cx="594360" cy="59436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5" y="48463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Design Patterns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Reuse proven solutions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38404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94192" y="4114800"/>
            <a:ext cx="594360" cy="59436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8463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Testing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Prove that your code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How the Lab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Two kinds of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4846320" cy="17830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8E1B22"/>
                </a:solidFill>
                <a:latin typeface="Calibri"/>
              </a:rPr>
              <a:t>Individual programs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Small tasks to practice one idea 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4846320" cy="17830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Team project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One larger system, built together all semester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258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Each team will…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192024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Organize and schedule the work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74320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43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Design the system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356616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5661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Code and debug the parts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438912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3891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Combine the parts and test them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521208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2120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Deliver a documented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Step 1  · 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Requirements: What Should It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8E1B22"/>
                </a:solidFill>
                <a:latin typeface="Calibri"/>
              </a:rPr>
              <a:t>Example project: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a Library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8E1B22"/>
                </a:solidFill>
                <a:latin typeface="Calibri"/>
              </a:rPr>
              <a:t>Functional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Calibri"/>
              </a:rPr>
              <a:t>What the system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member can search books by title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member can borrow up to 3 books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The system shows the due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874519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1" y="20574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3A6B"/>
                </a:solidFill>
                <a:latin typeface="Calibri"/>
              </a:rPr>
              <a:t>Non-functional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Calibri"/>
              </a:rPr>
              <a:t>How well it does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1" y="306324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Search results appear in under 2 seconds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Works on both phone and laptop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Only librarians can add new 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Write the requirements first. Code comes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1  ·  Modularity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Modularity: Small Parts, Clear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53895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95A5"/>
                </a:solidFill>
                <a:latin typeface="Calibri"/>
              </a:rPr>
              <a:t>✗  EVERYTHING IN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5029200" cy="3429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Result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main(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[] marks = {</a:t>
            </a:r>
            <a:r>
              <a:rPr sz="1300" i="0">
                <a:solidFill>
                  <a:srgbClr val="F78C6C"/>
                </a:solidFill>
                <a:latin typeface="Consolas"/>
              </a:rPr>
              <a:t>78</a:t>
            </a:r>
            <a:r>
              <a:rPr sz="1300" i="0">
                <a:solidFill>
                  <a:srgbClr val="E6E6E6"/>
                </a:solidFill>
                <a:latin typeface="Consolas"/>
              </a:rPr>
              <a:t>, </a:t>
            </a:r>
            <a:r>
              <a:rPr sz="1300" i="0">
                <a:solidFill>
                  <a:srgbClr val="F78C6C"/>
                </a:solidFill>
                <a:latin typeface="Consolas"/>
              </a:rPr>
              <a:t>85</a:t>
            </a:r>
            <a:r>
              <a:rPr sz="1300" i="0">
                <a:solidFill>
                  <a:srgbClr val="E6E6E6"/>
                </a:solidFill>
                <a:latin typeface="Consolas"/>
              </a:rPr>
              <a:t>, </a:t>
            </a:r>
            <a:r>
              <a:rPr sz="1300" i="0">
                <a:solidFill>
                  <a:srgbClr val="F78C6C"/>
                </a:solidFill>
                <a:latin typeface="Consolas"/>
              </a:rPr>
              <a:t>92</a:t>
            </a:r>
            <a:r>
              <a:rPr sz="1300" i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 sum = </a:t>
            </a:r>
            <a:r>
              <a:rPr sz="1300" i="0">
                <a:solidFill>
                  <a:srgbClr val="F78C6C"/>
                </a:solidFill>
                <a:latin typeface="Consolas"/>
              </a:rPr>
              <a:t>0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for</a:t>
            </a:r>
            <a:r>
              <a:rPr sz="1300" i="0">
                <a:solidFill>
                  <a:srgbClr val="E6E6E6"/>
                </a:solidFill>
                <a:latin typeface="Consolas"/>
              </a:rPr>
              <a:t> (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 m : marks) sum += m;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avg = sum / </a:t>
            </a:r>
            <a:r>
              <a:rPr sz="1300" i="0">
                <a:solidFill>
                  <a:srgbClr val="F78C6C"/>
                </a:solidFill>
                <a:latin typeface="Consolas"/>
              </a:rPr>
              <a:t>3.0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if</a:t>
            </a:r>
            <a:r>
              <a:rPr sz="1300" i="0">
                <a:solidFill>
                  <a:srgbClr val="E6E6E6"/>
                </a:solidFill>
                <a:latin typeface="Consolas"/>
              </a:rPr>
              <a:t> (avg &gt;= </a:t>
            </a:r>
            <a:r>
              <a:rPr sz="1300" i="0">
                <a:solidFill>
                  <a:srgbClr val="F78C6C"/>
                </a:solidFill>
                <a:latin typeface="Consolas"/>
              </a:rPr>
              <a:t>80</a:t>
            </a:r>
            <a:r>
              <a:rPr sz="1300" i="0">
                <a:solidFill>
                  <a:srgbClr val="E6E6E6"/>
                </a:solidFill>
                <a:latin typeface="Consolas"/>
              </a:rPr>
              <a:t>) </a:t>
            </a:r>
            <a:r>
              <a:rPr sz="1300" i="0">
                <a:solidFill>
                  <a:srgbClr val="FFCB6B"/>
                </a:solidFill>
                <a:latin typeface="Consolas"/>
              </a:rPr>
              <a:t>System</a:t>
            </a:r>
            <a:r>
              <a:rPr sz="1300" i="0">
                <a:solidFill>
                  <a:srgbClr val="E6E6E6"/>
                </a:solidFill>
                <a:latin typeface="Consolas"/>
              </a:rPr>
              <a:t>.out.println(</a:t>
            </a:r>
            <a:r>
              <a:rPr sz="1300" i="0">
                <a:solidFill>
                  <a:srgbClr val="C3E88D"/>
                </a:solidFill>
                <a:latin typeface="Consolas"/>
              </a:rPr>
              <a:t>"A+"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else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System</a:t>
            </a:r>
            <a:r>
              <a:rPr sz="1300" i="0">
                <a:solidFill>
                  <a:srgbClr val="E6E6E6"/>
                </a:solidFill>
                <a:latin typeface="Consolas"/>
              </a:rPr>
              <a:t>.out.println(</a:t>
            </a:r>
            <a:r>
              <a:rPr sz="1300" i="0">
                <a:solidFill>
                  <a:srgbClr val="C3E88D"/>
                </a:solidFill>
                <a:latin typeface="Consolas"/>
              </a:rPr>
              <a:t>"Below A+"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2588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453895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95A5"/>
                </a:solidFill>
                <a:latin typeface="Calibri"/>
              </a:rPr>
              <a:t>✓  EACH METHOD HAS ONE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783080"/>
            <a:ext cx="4937760" cy="3429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average(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[] marks)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 sum = </a:t>
            </a:r>
            <a:r>
              <a:rPr sz="1300" i="0">
                <a:solidFill>
                  <a:srgbClr val="F78C6C"/>
                </a:solidFill>
                <a:latin typeface="Consolas"/>
              </a:rPr>
              <a:t>0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for</a:t>
            </a:r>
            <a:r>
              <a:rPr sz="1300" i="0">
                <a:solidFill>
                  <a:srgbClr val="E6E6E6"/>
                </a:solidFill>
                <a:latin typeface="Consolas"/>
              </a:rPr>
              <a:t> (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 m : marks) sum += m;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return</a:t>
            </a:r>
            <a:r>
              <a:rPr sz="1300" i="0">
                <a:solidFill>
                  <a:srgbClr val="E6E6E6"/>
                </a:solidFill>
                <a:latin typeface="Consolas"/>
              </a:rPr>
              <a:t> 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) sum / marks.length;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 grade(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avg)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return</a:t>
            </a:r>
            <a:r>
              <a:rPr sz="1300" i="0">
                <a:solidFill>
                  <a:srgbClr val="E6E6E6"/>
                </a:solidFill>
                <a:latin typeface="Consolas"/>
              </a:rPr>
              <a:t> avg &gt;= </a:t>
            </a:r>
            <a:r>
              <a:rPr sz="1300" i="0">
                <a:solidFill>
                  <a:srgbClr val="F78C6C"/>
                </a:solidFill>
                <a:latin typeface="Consolas"/>
              </a:rPr>
              <a:t>80</a:t>
            </a:r>
            <a:r>
              <a:rPr sz="1300" i="0">
                <a:solidFill>
                  <a:srgbClr val="E6E6E6"/>
                </a:solidFill>
                <a:latin typeface="Consolas"/>
              </a:rPr>
              <a:t> ? </a:t>
            </a:r>
            <a:r>
              <a:rPr sz="1300" i="0">
                <a:solidFill>
                  <a:srgbClr val="C3E88D"/>
                </a:solidFill>
                <a:latin typeface="Consolas"/>
              </a:rPr>
              <a:t>"A+"</a:t>
            </a:r>
            <a:r>
              <a:rPr sz="1300" i="0">
                <a:solidFill>
                  <a:srgbClr val="E6E6E6"/>
                </a:solidFill>
                <a:latin typeface="Consolas"/>
              </a:rPr>
              <a:t> : </a:t>
            </a:r>
            <a:r>
              <a:rPr sz="1300" i="0">
                <a:solidFill>
                  <a:srgbClr val="C3E88D"/>
                </a:solidFill>
                <a:latin typeface="Consolas"/>
              </a:rPr>
              <a:t>"Below A+"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main(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int</a:t>
            </a:r>
            <a:r>
              <a:rPr sz="1300" i="0">
                <a:solidFill>
                  <a:srgbClr val="E6E6E6"/>
                </a:solidFill>
                <a:latin typeface="Consolas"/>
              </a:rPr>
              <a:t>[] marks = {</a:t>
            </a:r>
            <a:r>
              <a:rPr sz="1300" i="0">
                <a:solidFill>
                  <a:srgbClr val="F78C6C"/>
                </a:solidFill>
                <a:latin typeface="Consolas"/>
              </a:rPr>
              <a:t>78</a:t>
            </a:r>
            <a:r>
              <a:rPr sz="1300" i="0">
                <a:solidFill>
                  <a:srgbClr val="E6E6E6"/>
                </a:solidFill>
                <a:latin typeface="Consolas"/>
              </a:rPr>
              <a:t>, </a:t>
            </a:r>
            <a:r>
              <a:rPr sz="1300" i="0">
                <a:solidFill>
                  <a:srgbClr val="F78C6C"/>
                </a:solidFill>
                <a:latin typeface="Consolas"/>
              </a:rPr>
              <a:t>85</a:t>
            </a:r>
            <a:r>
              <a:rPr sz="1300" i="0">
                <a:solidFill>
                  <a:srgbClr val="E6E6E6"/>
                </a:solidFill>
                <a:latin typeface="Consolas"/>
              </a:rPr>
              <a:t>, </a:t>
            </a:r>
            <a:r>
              <a:rPr sz="1300" i="0">
                <a:solidFill>
                  <a:srgbClr val="F78C6C"/>
                </a:solidFill>
                <a:latin typeface="Consolas"/>
              </a:rPr>
              <a:t>92</a:t>
            </a:r>
            <a:r>
              <a:rPr sz="1300" i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System</a:t>
            </a:r>
            <a:r>
              <a:rPr sz="1300" i="0">
                <a:solidFill>
                  <a:srgbClr val="E6E6E6"/>
                </a:solidFill>
                <a:latin typeface="Consolas"/>
              </a:rPr>
              <a:t>.out.println(grade(average(marks)));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solidFill>
                  <a:srgbClr val="222222"/>
                </a:solidFill>
                <a:latin typeface="Calibri"/>
              </a:rPr>
              <a:t>Small methods are </a:t>
            </a:r>
            <a:r>
              <a:rPr sz="2100" b="1" i="0">
                <a:solidFill>
                  <a:srgbClr val="222222"/>
                </a:solidFill>
                <a:latin typeface="Calibri"/>
              </a:rPr>
              <a:t>easier to read, test and reuse.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3  ·  Data 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Data Abstraction: Hide the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400800" cy="43434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5943600" cy="4023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private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balance;   </a:t>
            </a:r>
            <a:r>
              <a:rPr sz="1300" i="1">
                <a:solidFill>
                  <a:srgbClr val="8A95A5"/>
                </a:solidFill>
                <a:latin typeface="Consolas"/>
              </a:rPr>
              <a:t>// hidden inside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deposit(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amount)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if</a:t>
            </a:r>
            <a:r>
              <a:rPr sz="1300" i="0">
                <a:solidFill>
                  <a:srgbClr val="E6E6E6"/>
                </a:solidFill>
                <a:latin typeface="Consolas"/>
              </a:rPr>
              <a:t> (amount &lt;= </a:t>
            </a:r>
            <a:r>
              <a:rPr sz="1300" i="0">
                <a:solidFill>
                  <a:srgbClr val="F78C6C"/>
                </a:solidFill>
                <a:latin typeface="Consolas"/>
              </a:rPr>
              <a:t>0</a:t>
            </a:r>
            <a:r>
              <a:rPr sz="1300" i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throw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new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IllegalArgumentException</a:t>
            </a:r>
            <a:r>
              <a:rPr sz="1300" i="0">
                <a:solidFill>
                  <a:srgbClr val="E6E6E6"/>
                </a:solidFill>
                <a:latin typeface="Consolas"/>
              </a:rPr>
              <a:t>(</a:t>
            </a:r>
            <a:r>
              <a:rPr sz="1300" i="0">
                <a:solidFill>
                  <a:srgbClr val="C3E88D"/>
                </a:solidFill>
                <a:latin typeface="Consolas"/>
              </a:rPr>
              <a:t>"Invalid amount"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balance += amount;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getBalance()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return</a:t>
            </a:r>
            <a:r>
              <a:rPr sz="1300" i="0">
                <a:solidFill>
                  <a:srgbClr val="E6E6E6"/>
                </a:solidFill>
                <a:latin typeface="Consolas"/>
              </a:rPr>
              <a:t> balance;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325880"/>
            <a:ext cx="4416552" cy="16002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8E1B22"/>
                </a:solidFill>
                <a:latin typeface="Consolas"/>
              </a:rPr>
              <a:t>private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  balance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Code outside the class cannot touch it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108960"/>
            <a:ext cx="4416552" cy="14630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324612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3A6B"/>
                </a:solidFill>
                <a:latin typeface="Consolas"/>
              </a:rPr>
              <a:t>deposit()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 is the only way in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and it rejects bad amounts.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754880"/>
            <a:ext cx="4416552" cy="9144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4937760"/>
            <a:ext cx="3959352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i="0">
                <a:solidFill>
                  <a:srgbClr val="E6E6E6"/>
                </a:solidFill>
                <a:latin typeface="Consolas"/>
              </a:rPr>
              <a:t>acc.balance = -</a:t>
            </a:r>
            <a:r>
              <a:rPr sz="1400" i="0">
                <a:solidFill>
                  <a:srgbClr val="F78C6C"/>
                </a:solidFill>
                <a:latin typeface="Consolas"/>
              </a:rPr>
              <a:t>5000</a:t>
            </a:r>
            <a:r>
              <a:rPr sz="1400" i="0">
                <a:solidFill>
                  <a:srgbClr val="E6E6E6"/>
                </a:solidFill>
                <a:latin typeface="Consolas"/>
              </a:rPr>
              <a:t>;  </a:t>
            </a:r>
            <a:r>
              <a:rPr sz="1400" i="1">
                <a:solidFill>
                  <a:srgbClr val="8A95A5"/>
                </a:solidFill>
                <a:latin typeface="Consolas"/>
              </a:rPr>
              <a:t>// ✗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Users of the class see a simple interface, not the messy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2  · 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Specification: A Promise in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675120" cy="384048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6217920" cy="3520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/**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 Withdraws money from this account.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 @param amount must be &gt; 0 and &lt;= current balance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 @throws IllegalArgumentException if amount is invalid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 After the call: balance is reduced by amount.</a:t>
            </a:r>
          </a:p>
          <a:p>
            <a:pPr>
              <a:lnSpc>
                <a:spcPct val="100000"/>
              </a:lnSpc>
            </a:pPr>
            <a:r>
              <a:rPr sz="1400" i="1">
                <a:solidFill>
                  <a:srgbClr val="8A95A5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400" i="0">
                <a:solidFill>
                  <a:srgbClr val="E6E6E6"/>
                </a:solidFill>
                <a:latin typeface="Consolas"/>
              </a:rPr>
              <a:t> </a:t>
            </a:r>
            <a:r>
              <a:rPr sz="1400" i="0">
                <a:solidFill>
                  <a:srgbClr val="C792EA"/>
                </a:solidFill>
                <a:latin typeface="Consolas"/>
              </a:rPr>
              <a:t>void</a:t>
            </a:r>
            <a:r>
              <a:rPr sz="1400" i="0">
                <a:solidFill>
                  <a:srgbClr val="E6E6E6"/>
                </a:solidFill>
                <a:latin typeface="Consolas"/>
              </a:rPr>
              <a:t> withdraw(</a:t>
            </a:r>
            <a:r>
              <a:rPr sz="14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400" i="0">
                <a:solidFill>
                  <a:srgbClr val="E6E6E6"/>
                </a:solidFill>
                <a:latin typeface="Consolas"/>
              </a:rPr>
              <a:t> amount) {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E6E6E6"/>
                </a:solidFill>
                <a:latin typeface="Consolas"/>
              </a:rPr>
              <a:t>    </a:t>
            </a:r>
            <a:r>
              <a:rPr sz="1400" i="0">
                <a:solidFill>
                  <a:srgbClr val="C792EA"/>
                </a:solidFill>
                <a:latin typeface="Consolas"/>
              </a:rPr>
              <a:t>if</a:t>
            </a:r>
            <a:r>
              <a:rPr sz="1400" i="0">
                <a:solidFill>
                  <a:srgbClr val="E6E6E6"/>
                </a:solidFill>
                <a:latin typeface="Consolas"/>
              </a:rPr>
              <a:t> (amount &lt;= </a:t>
            </a:r>
            <a:r>
              <a:rPr sz="1400" i="0">
                <a:solidFill>
                  <a:srgbClr val="F78C6C"/>
                </a:solidFill>
                <a:latin typeface="Consolas"/>
              </a:rPr>
              <a:t>0</a:t>
            </a:r>
            <a:r>
              <a:rPr sz="1400" i="0">
                <a:solidFill>
                  <a:srgbClr val="E6E6E6"/>
                </a:solidFill>
                <a:latin typeface="Consolas"/>
              </a:rPr>
              <a:t> || amount &gt; balance)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400" i="0">
                <a:solidFill>
                  <a:srgbClr val="C792EA"/>
                </a:solidFill>
                <a:latin typeface="Consolas"/>
              </a:rPr>
              <a:t>throw</a:t>
            </a:r>
            <a:r>
              <a:rPr sz="1400" i="0">
                <a:solidFill>
                  <a:srgbClr val="E6E6E6"/>
                </a:solidFill>
                <a:latin typeface="Consolas"/>
              </a:rPr>
              <a:t> </a:t>
            </a:r>
            <a:r>
              <a:rPr sz="1400" i="0">
                <a:solidFill>
                  <a:srgbClr val="C792EA"/>
                </a:solidFill>
                <a:latin typeface="Consolas"/>
              </a:rPr>
              <a:t>new</a:t>
            </a:r>
            <a:r>
              <a:rPr sz="1400" i="0">
                <a:solidFill>
                  <a:srgbClr val="E6E6E6"/>
                </a:solidFill>
                <a:latin typeface="Consolas"/>
              </a:rPr>
              <a:t> </a:t>
            </a:r>
            <a:r>
              <a:rPr sz="1400" i="0">
                <a:solidFill>
                  <a:srgbClr val="FFCB6B"/>
                </a:solidFill>
                <a:latin typeface="Consolas"/>
              </a:rPr>
              <a:t>IllegalArgumentException</a:t>
            </a:r>
            <a:r>
              <a:rPr sz="1400" i="0">
                <a:solidFill>
                  <a:srgbClr val="E6E6E6"/>
                </a:solidFill>
                <a:latin typeface="Consolas"/>
              </a:rPr>
              <a:t>(</a:t>
            </a:r>
            <a:r>
              <a:rPr sz="1400" i="0">
                <a:solidFill>
                  <a:srgbClr val="C3E88D"/>
                </a:solidFill>
                <a:latin typeface="Consolas"/>
              </a:rPr>
              <a:t>"Invalid amount"</a:t>
            </a:r>
            <a:r>
              <a:rPr sz="14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E6E6E6"/>
                </a:solidFill>
                <a:latin typeface="Consolas"/>
              </a:rPr>
              <a:t>    balance -= amount;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25880"/>
            <a:ext cx="4142232" cy="11887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43560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8E1B22"/>
                </a:solidFill>
                <a:latin typeface="Calibri"/>
              </a:rPr>
              <a:t>Precondition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 What the caller must give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amount &gt; 0 and ≤ 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51760"/>
            <a:ext cx="4142232" cy="11887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76148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Postcondition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 What the method guarantees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balance goes down by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977639"/>
            <a:ext cx="4142232" cy="11887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408736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8E1B22"/>
                </a:solidFill>
                <a:latin typeface="Calibri"/>
              </a:rPr>
              <a:t>Otherwise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 What happens on bad input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throws IllegalArgumentException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With a clear specification, a teammate can </a:t>
            </a:r>
            <a:r>
              <a:rPr sz="2000" b="1" i="0">
                <a:solidFill>
                  <a:srgbClr val="222222"/>
                </a:solidFill>
                <a:latin typeface="Calibri"/>
              </a:rPr>
              <a:t>use your method without reading its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4  ·  Object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Object Modeling: The Real World as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463040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463040" cy="1234440"/>
          </a:xfrm>
          <a:prstGeom prst="rect">
            <a:avLst/>
          </a:prstGeom>
          <a:solidFill>
            <a:srgbClr val="EDF2F8"/>
          </a:solidFill>
          <a:ln w="1905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234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id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name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loans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554480"/>
            <a:ext cx="1463040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15544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Loan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057400"/>
            <a:ext cx="1463040" cy="1234440"/>
          </a:xfrm>
          <a:prstGeom prst="rect">
            <a:avLst/>
          </a:prstGeom>
          <a:solidFill>
            <a:srgbClr val="EDF2F8"/>
          </a:solidFill>
          <a:ln w="1905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79" y="2148840"/>
            <a:ext cx="1234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book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member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dueDate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54480"/>
            <a:ext cx="1463040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15544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057400"/>
            <a:ext cx="1463040" cy="1234440"/>
          </a:xfrm>
          <a:prstGeom prst="rect">
            <a:avLst/>
          </a:prstGeom>
          <a:solidFill>
            <a:srgbClr val="EDF2F8"/>
          </a:solidFill>
          <a:ln w="1905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2148840"/>
            <a:ext cx="1234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isbn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title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available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1680" y="2377440"/>
            <a:ext cx="320040" cy="0"/>
          </a:xfrm>
          <a:prstGeom prst="line">
            <a:avLst/>
          </a:prstGeom>
          <a:ln w="254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37360" y="33832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has many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4760" y="2377440"/>
            <a:ext cx="320040" cy="0"/>
          </a:xfrm>
          <a:prstGeom prst="line">
            <a:avLst/>
          </a:prstGeom>
          <a:ln w="254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20440" y="338328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is for 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029200" cy="2194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45720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8E1B22"/>
                </a:solidFill>
                <a:latin typeface="Calibri"/>
              </a:rPr>
              <a:t>Requirement: </a:t>
            </a:r>
            <a:r>
              <a:rPr sz="1800" b="0" i="1">
                <a:solidFill>
                  <a:srgbClr val="222222"/>
                </a:solidFill>
                <a:latin typeface="Calibri"/>
              </a:rPr>
              <a:t>“A member borrows a book.”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Nouns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classes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Details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fields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Actions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methods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1325880"/>
            <a:ext cx="5742432" cy="48006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1508760"/>
            <a:ext cx="5285232" cy="4480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Book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 isbn;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 title;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boolean</a:t>
            </a:r>
            <a:r>
              <a:rPr sz="1300" i="0">
                <a:solidFill>
                  <a:srgbClr val="E6E6E6"/>
                </a:solidFill>
                <a:latin typeface="Consolas"/>
              </a:rPr>
              <a:t> available = </a:t>
            </a:r>
            <a:r>
              <a:rPr sz="1300" i="0">
                <a:solidFill>
                  <a:srgbClr val="C792EA"/>
                </a:solidFill>
                <a:latin typeface="Consolas"/>
              </a:rPr>
              <a:t>true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Member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 id;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String</a:t>
            </a:r>
            <a:r>
              <a:rPr sz="1300" i="0">
                <a:solidFill>
                  <a:srgbClr val="E6E6E6"/>
                </a:solidFill>
                <a:latin typeface="Consolas"/>
              </a:rPr>
              <a:t> name;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List</a:t>
            </a:r>
            <a:r>
              <a:rPr sz="1300" i="0">
                <a:solidFill>
                  <a:srgbClr val="E6E6E6"/>
                </a:solidFill>
                <a:latin typeface="Consolas"/>
              </a:rPr>
              <a:t>&lt;</a:t>
            </a:r>
            <a:r>
              <a:rPr sz="1300" i="0">
                <a:solidFill>
                  <a:srgbClr val="FFCB6B"/>
                </a:solidFill>
                <a:latin typeface="Consolas"/>
              </a:rPr>
              <a:t>Loan</a:t>
            </a:r>
            <a:r>
              <a:rPr sz="1300" i="0">
                <a:solidFill>
                  <a:srgbClr val="E6E6E6"/>
                </a:solidFill>
                <a:latin typeface="Consolas"/>
              </a:rPr>
              <a:t>&gt; loans = </a:t>
            </a:r>
            <a:r>
              <a:rPr sz="1300" i="0">
                <a:solidFill>
                  <a:srgbClr val="C792EA"/>
                </a:solidFill>
                <a:latin typeface="Consolas"/>
              </a:rPr>
              <a:t>new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ArrayList</a:t>
            </a:r>
            <a:r>
              <a:rPr sz="1300" i="0">
                <a:solidFill>
                  <a:srgbClr val="E6E6E6"/>
                </a:solidFill>
                <a:latin typeface="Consolas"/>
              </a:rPr>
              <a:t>&lt;&gt;();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Loan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Book</a:t>
            </a:r>
            <a:r>
              <a:rPr sz="1300" i="0">
                <a:solidFill>
                  <a:srgbClr val="E6E6E6"/>
                </a:solidFill>
                <a:latin typeface="Consolas"/>
              </a:rPr>
              <a:t> book;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Member</a:t>
            </a:r>
            <a:r>
              <a:rPr sz="1300" i="0">
                <a:solidFill>
                  <a:srgbClr val="E6E6E6"/>
                </a:solidFill>
                <a:latin typeface="Consolas"/>
              </a:rPr>
              <a:t> member;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LocalDate</a:t>
            </a:r>
            <a:r>
              <a:rPr sz="1300" i="0">
                <a:solidFill>
                  <a:srgbClr val="E6E6E6"/>
                </a:solidFill>
                <a:latin typeface="Consolas"/>
              </a:rPr>
              <a:t> dueDate;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5  · 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Design Patterns: Reuse Proven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Example: the </a:t>
            </a:r>
            <a:r>
              <a:rPr sz="1900" b="1" i="0">
                <a:solidFill>
                  <a:srgbClr val="8E1B22"/>
                </a:solidFill>
                <a:latin typeface="Calibri"/>
              </a:rPr>
              <a:t>Strategy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pattern, swapping behaviour without changing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035040" cy="438912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5577840" cy="40690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interface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PaymentMethod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pay(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amount);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Bkash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implements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PaymentMethod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pay(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amount)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System</a:t>
            </a:r>
            <a:r>
              <a:rPr sz="1300" i="0">
                <a:solidFill>
                  <a:srgbClr val="E6E6E6"/>
                </a:solidFill>
                <a:latin typeface="Consolas"/>
              </a:rPr>
              <a:t>.out.println(</a:t>
            </a:r>
            <a:r>
              <a:rPr sz="1300" i="0">
                <a:solidFill>
                  <a:srgbClr val="C3E88D"/>
                </a:solidFill>
                <a:latin typeface="Consolas"/>
              </a:rPr>
              <a:t>"Paid "</a:t>
            </a:r>
            <a:r>
              <a:rPr sz="1300" i="0">
                <a:solidFill>
                  <a:srgbClr val="E6E6E6"/>
                </a:solidFill>
                <a:latin typeface="Consolas"/>
              </a:rPr>
              <a:t> + amount + </a:t>
            </a:r>
            <a:r>
              <a:rPr sz="1300" i="0">
                <a:solidFill>
                  <a:srgbClr val="C3E88D"/>
                </a:solidFill>
                <a:latin typeface="Consolas"/>
              </a:rPr>
              <a:t>" via bKash"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Card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implements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PaymentMethod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public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pay(</a:t>
            </a:r>
            <a:r>
              <a:rPr sz="130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300" i="0">
                <a:solidFill>
                  <a:srgbClr val="E6E6E6"/>
                </a:solidFill>
                <a:latin typeface="Consolas"/>
              </a:rPr>
              <a:t> amount)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System</a:t>
            </a:r>
            <a:r>
              <a:rPr sz="1300" i="0">
                <a:solidFill>
                  <a:srgbClr val="E6E6E6"/>
                </a:solidFill>
                <a:latin typeface="Consolas"/>
              </a:rPr>
              <a:t>.out.println(</a:t>
            </a:r>
            <a:r>
              <a:rPr sz="1300" i="0">
                <a:solidFill>
                  <a:srgbClr val="C3E88D"/>
                </a:solidFill>
                <a:latin typeface="Consolas"/>
              </a:rPr>
              <a:t>"Paid "</a:t>
            </a:r>
            <a:r>
              <a:rPr sz="1300" i="0">
                <a:solidFill>
                  <a:srgbClr val="E6E6E6"/>
                </a:solidFill>
                <a:latin typeface="Consolas"/>
              </a:rPr>
              <a:t> + amount + </a:t>
            </a:r>
            <a:r>
              <a:rPr sz="1300" i="0">
                <a:solidFill>
                  <a:srgbClr val="C3E88D"/>
                </a:solidFill>
                <a:latin typeface="Consolas"/>
              </a:rPr>
              <a:t>" by card"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783080"/>
            <a:ext cx="4828032" cy="233172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965960"/>
            <a:ext cx="4370832" cy="20116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50" i="1">
                <a:solidFill>
                  <a:srgbClr val="8A95A5"/>
                </a:solidFill>
                <a:latin typeface="Consolas"/>
              </a:rPr>
              <a:t>// Checkout does not care HOW you pay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150" i="0">
                <a:solidFill>
                  <a:srgbClr val="E6E6E6"/>
                </a:solidFill>
                <a:latin typeface="Consolas"/>
              </a:rPr>
              <a:t> </a:t>
            </a:r>
            <a:r>
              <a:rPr sz="1150" i="0">
                <a:solidFill>
                  <a:srgbClr val="C792EA"/>
                </a:solidFill>
                <a:latin typeface="Consolas"/>
              </a:rPr>
              <a:t>void</a:t>
            </a:r>
            <a:r>
              <a:rPr sz="1150" i="0">
                <a:solidFill>
                  <a:srgbClr val="E6E6E6"/>
                </a:solidFill>
                <a:latin typeface="Consolas"/>
              </a:rPr>
              <a:t> checkout(</a:t>
            </a:r>
            <a:r>
              <a:rPr sz="1150" i="0">
                <a:solidFill>
                  <a:srgbClr val="FFCB6B"/>
                </a:solidFill>
                <a:latin typeface="Consolas"/>
              </a:rPr>
              <a:t>PaymentMethod</a:t>
            </a:r>
            <a:r>
              <a:rPr sz="1150" i="0">
                <a:solidFill>
                  <a:srgbClr val="E6E6E6"/>
                </a:solidFill>
                <a:latin typeface="Consolas"/>
              </a:rPr>
              <a:t> m, </a:t>
            </a:r>
            <a:r>
              <a:rPr sz="1150" i="0">
                <a:solidFill>
                  <a:srgbClr val="C792EA"/>
                </a:solidFill>
                <a:latin typeface="Consolas"/>
              </a:rPr>
              <a:t>double</a:t>
            </a:r>
            <a:r>
              <a:rPr sz="1150" i="0">
                <a:solidFill>
                  <a:srgbClr val="E6E6E6"/>
                </a:solidFill>
                <a:latin typeface="Consolas"/>
              </a:rPr>
              <a:t> total) {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E6E6E6"/>
                </a:solidFill>
                <a:latin typeface="Consolas"/>
              </a:rPr>
              <a:t>    m.pay(total);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E6E6E6"/>
                </a:solidFill>
                <a:latin typeface="Consolas"/>
              </a:rPr>
              <a:t>checkout(</a:t>
            </a:r>
            <a:r>
              <a:rPr sz="1150" i="0">
                <a:solidFill>
                  <a:srgbClr val="C792EA"/>
                </a:solidFill>
                <a:latin typeface="Consolas"/>
              </a:rPr>
              <a:t>new</a:t>
            </a:r>
            <a:r>
              <a:rPr sz="1150" i="0">
                <a:solidFill>
                  <a:srgbClr val="E6E6E6"/>
                </a:solidFill>
                <a:latin typeface="Consolas"/>
              </a:rPr>
              <a:t> </a:t>
            </a:r>
            <a:r>
              <a:rPr sz="1150" i="0">
                <a:solidFill>
                  <a:srgbClr val="FFCB6B"/>
                </a:solidFill>
                <a:latin typeface="Consolas"/>
              </a:rPr>
              <a:t>Bkash</a:t>
            </a:r>
            <a:r>
              <a:rPr sz="1150" i="0">
                <a:solidFill>
                  <a:srgbClr val="E6E6E6"/>
                </a:solidFill>
                <a:latin typeface="Consolas"/>
              </a:rPr>
              <a:t>(), </a:t>
            </a:r>
            <a:r>
              <a:rPr sz="1150" i="0">
                <a:solidFill>
                  <a:srgbClr val="F78C6C"/>
                </a:solidFill>
                <a:latin typeface="Consolas"/>
              </a:rPr>
              <a:t>1200</a:t>
            </a:r>
            <a:r>
              <a:rPr sz="1150" i="0">
                <a:solidFill>
                  <a:srgbClr val="E6E6E6"/>
                </a:solidFill>
                <a:latin typeface="Consolas"/>
              </a:rPr>
              <a:t>);   </a:t>
            </a:r>
            <a:r>
              <a:rPr sz="1150" i="1">
                <a:solidFill>
                  <a:srgbClr val="8A95A5"/>
                </a:solidFill>
                <a:latin typeface="Consolas"/>
              </a:rPr>
              <a:t>// Paid 1200.0 via bKash</a:t>
            </a:r>
          </a:p>
          <a:p>
            <a:pPr>
              <a:lnSpc>
                <a:spcPct val="100000"/>
              </a:lnSpc>
            </a:pPr>
            <a:r>
              <a:rPr sz="1150" i="0">
                <a:solidFill>
                  <a:srgbClr val="E6E6E6"/>
                </a:solidFill>
                <a:latin typeface="Consolas"/>
              </a:rPr>
              <a:t>checkout(</a:t>
            </a:r>
            <a:r>
              <a:rPr sz="1150" i="0">
                <a:solidFill>
                  <a:srgbClr val="C792EA"/>
                </a:solidFill>
                <a:latin typeface="Consolas"/>
              </a:rPr>
              <a:t>new</a:t>
            </a:r>
            <a:r>
              <a:rPr sz="1150" i="0">
                <a:solidFill>
                  <a:srgbClr val="E6E6E6"/>
                </a:solidFill>
                <a:latin typeface="Consolas"/>
              </a:rPr>
              <a:t> </a:t>
            </a:r>
            <a:r>
              <a:rPr sz="1150" i="0">
                <a:solidFill>
                  <a:srgbClr val="FFCB6B"/>
                </a:solidFill>
                <a:latin typeface="Consolas"/>
              </a:rPr>
              <a:t>Card</a:t>
            </a:r>
            <a:r>
              <a:rPr sz="1150" i="0">
                <a:solidFill>
                  <a:srgbClr val="E6E6E6"/>
                </a:solidFill>
                <a:latin typeface="Consolas"/>
              </a:rPr>
              <a:t>(), </a:t>
            </a:r>
            <a:r>
              <a:rPr sz="1150" i="0">
                <a:solidFill>
                  <a:srgbClr val="F78C6C"/>
                </a:solidFill>
                <a:latin typeface="Consolas"/>
              </a:rPr>
              <a:t>1200</a:t>
            </a:r>
            <a:r>
              <a:rPr sz="1150" i="0">
                <a:solidFill>
                  <a:srgbClr val="E6E6E6"/>
                </a:solidFill>
                <a:latin typeface="Consolas"/>
              </a:rPr>
              <a:t>);    </a:t>
            </a:r>
            <a:r>
              <a:rPr sz="1150" i="1">
                <a:solidFill>
                  <a:srgbClr val="8A95A5"/>
                </a:solidFill>
                <a:latin typeface="Consolas"/>
              </a:rPr>
              <a:t>// Paid 1200.0 by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343400"/>
            <a:ext cx="4828032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4480560"/>
            <a:ext cx="4297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3A6B"/>
                </a:solidFill>
                <a:latin typeface="Calibri"/>
              </a:rPr>
              <a:t>Need Nagad tomorrow?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Add one new class. </a:t>
            </a:r>
            <a:r>
              <a:rPr sz="1700" b="0" i="0">
                <a:solidFill>
                  <a:srgbClr val="222222"/>
                </a:solidFill>
                <a:latin typeface="Consolas"/>
              </a:rPr>
              <a:t>checkout()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does not change at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Topic 6  · 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Testing: Prove That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6217920" cy="45262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import</a:t>
            </a:r>
            <a:r>
              <a:rPr sz="1300" i="0">
                <a:solidFill>
                  <a:srgbClr val="E6E6E6"/>
                </a:solidFill>
                <a:latin typeface="Consolas"/>
              </a:rPr>
              <a:t> org.junit.jupiter.api.</a:t>
            </a:r>
            <a:r>
              <a:rPr sz="1300" i="0">
                <a:solidFill>
                  <a:srgbClr val="FFCB6B"/>
                </a:solidFill>
                <a:latin typeface="Consolas"/>
              </a:rPr>
              <a:t>Test</a:t>
            </a:r>
            <a:r>
              <a:rPr sz="1300" i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import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C792EA"/>
                </a:solidFill>
                <a:latin typeface="Consolas"/>
              </a:rPr>
              <a:t>static</a:t>
            </a:r>
            <a:r>
              <a:rPr sz="1300" i="0">
                <a:solidFill>
                  <a:srgbClr val="E6E6E6"/>
                </a:solidFill>
                <a:latin typeface="Consolas"/>
              </a:rPr>
              <a:t> org.junit.jupiter.api.Assertions.*;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BankAccountTest</a:t>
            </a:r>
            <a:r>
              <a:rPr sz="1300" i="0">
                <a:solidFill>
                  <a:srgbClr val="E6E6E6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89DDFF"/>
                </a:solidFill>
                <a:latin typeface="Consolas"/>
              </a:rPr>
              <a:t>@Test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depositIncreasesBalance()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</a:t>
            </a:r>
            <a:r>
              <a:rPr sz="1300" i="0">
                <a:solidFill>
                  <a:srgbClr val="E6E6E6"/>
                </a:solidFill>
                <a:latin typeface="Consolas"/>
              </a:rPr>
              <a:t> acc = </a:t>
            </a:r>
            <a:r>
              <a:rPr sz="1300" i="0">
                <a:solidFill>
                  <a:srgbClr val="C792EA"/>
                </a:solidFill>
                <a:latin typeface="Consolas"/>
              </a:rPr>
              <a:t>new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</a:t>
            </a:r>
            <a:r>
              <a:rPr sz="1300" i="0">
                <a:solidFill>
                  <a:srgbClr val="E6E6E6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acc.deposit(</a:t>
            </a:r>
            <a:r>
              <a:rPr sz="1300" i="0">
                <a:solidFill>
                  <a:srgbClr val="F78C6C"/>
                </a:solidFill>
                <a:latin typeface="Consolas"/>
              </a:rPr>
              <a:t>500</a:t>
            </a:r>
            <a:r>
              <a:rPr sz="1300" i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assertEquals(</a:t>
            </a:r>
            <a:r>
              <a:rPr sz="1300" i="0">
                <a:solidFill>
                  <a:srgbClr val="F78C6C"/>
                </a:solidFill>
                <a:latin typeface="Consolas"/>
              </a:rPr>
              <a:t>500</a:t>
            </a:r>
            <a:r>
              <a:rPr sz="1300" i="0">
                <a:solidFill>
                  <a:srgbClr val="E6E6E6"/>
                </a:solidFill>
                <a:latin typeface="Consolas"/>
              </a:rPr>
              <a:t>, acc.getBalance());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89DDFF"/>
                </a:solidFill>
                <a:latin typeface="Consolas"/>
              </a:rPr>
              <a:t>@Test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</a:t>
            </a:r>
            <a:r>
              <a:rPr sz="1300" i="0">
                <a:solidFill>
                  <a:srgbClr val="C792EA"/>
                </a:solidFill>
                <a:latin typeface="Consolas"/>
              </a:rPr>
              <a:t>void</a:t>
            </a:r>
            <a:r>
              <a:rPr sz="1300" i="0">
                <a:solidFill>
                  <a:srgbClr val="E6E6E6"/>
                </a:solidFill>
                <a:latin typeface="Consolas"/>
              </a:rPr>
              <a:t> negativeDepositIsRejected() 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</a:t>
            </a:r>
            <a:r>
              <a:rPr sz="1300" i="0">
                <a:solidFill>
                  <a:srgbClr val="E6E6E6"/>
                </a:solidFill>
                <a:latin typeface="Consolas"/>
              </a:rPr>
              <a:t> acc = </a:t>
            </a:r>
            <a:r>
              <a:rPr sz="1300" i="0">
                <a:solidFill>
                  <a:srgbClr val="C792EA"/>
                </a:solidFill>
                <a:latin typeface="Consolas"/>
              </a:rPr>
              <a:t>new</a:t>
            </a:r>
            <a:r>
              <a:rPr sz="1300" i="0">
                <a:solidFill>
                  <a:srgbClr val="E6E6E6"/>
                </a:solidFill>
                <a:latin typeface="Consolas"/>
              </a:rPr>
              <a:t> </a:t>
            </a:r>
            <a:r>
              <a:rPr sz="1300" i="0">
                <a:solidFill>
                  <a:srgbClr val="FFCB6B"/>
                </a:solidFill>
                <a:latin typeface="Consolas"/>
              </a:rPr>
              <a:t>BankAccount</a:t>
            </a:r>
            <a:r>
              <a:rPr sz="1300" i="0">
                <a:solidFill>
                  <a:srgbClr val="E6E6E6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assertThrows(</a:t>
            </a:r>
            <a:r>
              <a:rPr sz="1300" i="0">
                <a:solidFill>
                  <a:srgbClr val="FFCB6B"/>
                </a:solidFill>
                <a:latin typeface="Consolas"/>
              </a:rPr>
              <a:t>IllegalArgumentException</a:t>
            </a:r>
            <a:r>
              <a:rPr sz="1300" i="0">
                <a:solidFill>
                  <a:srgbClr val="E6E6E6"/>
                </a:solidFill>
                <a:latin typeface="Consolas"/>
              </a:rPr>
              <a:t>.</a:t>
            </a:r>
            <a:r>
              <a:rPr sz="1300" i="0">
                <a:solidFill>
                  <a:srgbClr val="C792EA"/>
                </a:solidFill>
                <a:latin typeface="Consolas"/>
              </a:rPr>
              <a:t>class</a:t>
            </a:r>
            <a:r>
              <a:rPr sz="1300" i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                 () -&gt; acc.deposit(-</a:t>
            </a:r>
            <a:r>
              <a:rPr sz="1300" i="0">
                <a:solidFill>
                  <a:srgbClr val="F78C6C"/>
                </a:solidFill>
                <a:latin typeface="Consolas"/>
              </a:rPr>
              <a:t>100</a:t>
            </a:r>
            <a:r>
              <a:rPr sz="1300" i="0">
                <a:solidFill>
                  <a:srgbClr val="E6E6E6"/>
                </a:solidFill>
                <a:latin typeface="Consolas"/>
              </a:rPr>
              <a:t>));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71600"/>
            <a:ext cx="4142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Why write tests?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41422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Catch bugs before users do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Change code without fear</a:t>
            </a:r>
          </a:p>
          <a:p>
            <a:pPr marL="342900" indent="-342900" algn="l">
              <a:spcAft>
                <a:spcPts val="1000"/>
              </a:spcAft>
              <a:buClr>
                <a:srgbClr val="8E1B22"/>
              </a:buClr>
              <a:buFont typeface="Arial"/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</a:rPr>
              <a:t>Tests show how the code should be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160520"/>
            <a:ext cx="4142232" cy="20116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429768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E1B22"/>
                </a:solidFill>
                <a:latin typeface="Calibri"/>
              </a:rPr>
              <a:t>Two parts of every test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1. Do something  </a:t>
            </a:r>
            <a:r>
              <a:rPr sz="1500" b="0" i="0">
                <a:solidFill>
                  <a:srgbClr val="222222"/>
                </a:solidFill>
                <a:latin typeface="Consolas"/>
              </a:rPr>
              <a:t>acc.deposit(500)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2. Check it  </a:t>
            </a:r>
            <a:r>
              <a:rPr sz="1500" b="0" i="0">
                <a:solidFill>
                  <a:srgbClr val="222222"/>
                </a:solidFill>
                <a:latin typeface="Consolas"/>
              </a:rPr>
              <a:t>assertEquals(…)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Tools We Will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737360"/>
            <a:ext cx="685800" cy="6858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Java JDK 17+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To compile and run 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4630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39312" y="1737360"/>
            <a:ext cx="685800" cy="6858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IntelliJ IDEA or VS Code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To write and debug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55664" y="1737360"/>
            <a:ext cx="685800" cy="6858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Git + GitHub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To save and share code with your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4630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72016" y="1737360"/>
            <a:ext cx="685800" cy="6858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3A6B"/>
                </a:solidFill>
                <a:latin typeface="Calibri"/>
              </a:rPr>
              <a:t>JUnit 5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To run 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Install these before the next 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libri"/>
              </a:rPr>
              <a:t>Lab Task 01: Build a BankAccount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CSE402  ·  Software Engineering Laboratory  ·  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Create class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BankAccount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with a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private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balance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58568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5856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Add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deposit()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withdraw()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 Reject invalid amounts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99816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99816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Add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getBalance()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41064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In </a:t>
            </a:r>
            <a:r>
              <a:rPr sz="1900" b="1" i="0">
                <a:solidFill>
                  <a:srgbClr val="222222"/>
                </a:solidFill>
                <a:latin typeface="Consolas"/>
              </a:rPr>
              <a:t>main()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: deposit 1000, withdraw 300, print the balance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8231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782312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Try to withdraw 5000. What happens?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69280"/>
            <a:ext cx="6812280" cy="5486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E1B22"/>
                </a:solidFill>
                <a:latin typeface="Calibri"/>
              </a:rPr>
              <a:t>Bonus: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write two JUnit tests for your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17320"/>
            <a:ext cx="3913632" cy="16002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1545336"/>
            <a:ext cx="3364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95A5"/>
                </a:solidFill>
                <a:latin typeface="Calibri"/>
              </a:rPr>
              <a:t>SAMPLE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874519"/>
            <a:ext cx="3456432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i="0">
                <a:solidFill>
                  <a:srgbClr val="E6E6E6"/>
                </a:solidFill>
                <a:latin typeface="Consolas"/>
              </a:rPr>
              <a:t>Balance: </a:t>
            </a:r>
            <a:r>
              <a:rPr sz="1500" i="0">
                <a:solidFill>
                  <a:srgbClr val="F78C6C"/>
                </a:solidFill>
                <a:latin typeface="Consolas"/>
              </a:rPr>
              <a:t>700.0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E6E6E6"/>
                </a:solidFill>
                <a:latin typeface="Consolas"/>
              </a:rPr>
              <a:t>Error: Invalid amount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3246120"/>
            <a:ext cx="3913632" cy="2971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3383280"/>
            <a:ext cx="33832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3A6B"/>
                </a:solidFill>
                <a:latin typeface="Calibri"/>
              </a:rPr>
              <a:t>Check yourself</a:t>
            </a:r>
          </a:p>
          <a:p>
            <a:pPr marL="342900" indent="-342900" algn="l">
              <a:spcAft>
                <a:spcPts val="600"/>
              </a:spcAft>
              <a:buClr>
                <a:srgbClr val="8E1B22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Can anyone outside the class make balance negative?</a:t>
            </a:r>
          </a:p>
          <a:p>
            <a:pPr marL="342900" indent="-342900" algn="l">
              <a:spcAft>
                <a:spcPts val="600"/>
              </a:spcAft>
              <a:buClr>
                <a:srgbClr val="8E1B22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Does each method do only one job?</a:t>
            </a:r>
          </a:p>
          <a:p>
            <a:pPr marL="342900" indent="-342900" algn="l">
              <a:spcAft>
                <a:spcPts val="0"/>
              </a:spcAft>
              <a:buClr>
                <a:srgbClr val="8E1B22"/>
              </a:buClr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Did you write the specification comment?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Today's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1732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Software engineering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= programming + planning + teamwork + testing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7743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8E1B2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Real projects go: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requirements → design → code → test → deliver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3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8E1B2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4612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Modularity &amp; abstraction: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small parts, hidden details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8E1B2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16052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Specifications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are promises;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tests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prove you kept them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8E1B22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07492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Patterns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are proven designs you can reuse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17320"/>
            <a:ext cx="377647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417320"/>
            <a:ext cx="3291840" cy="3108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8E1B22"/>
                </a:solidFill>
                <a:latin typeface="Calibri"/>
              </a:rPr>
              <a:t>NEXT LAB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Writing Requirements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B3A6B"/>
                </a:solidFill>
                <a:latin typeface="Calibri"/>
              </a:rPr>
              <a:t>Forming Project Teams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Bring your installed tools and a project idea.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92040"/>
            <a:ext cx="377647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1645</Words>
  <Application>Microsoft Office PowerPoint</Application>
  <PresentationFormat>Widescreen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2005067 - Masnoon Muztahid</cp:lastModifiedBy>
  <cp:revision>3</cp:revision>
  <dcterms:created xsi:type="dcterms:W3CDTF">2013-01-27T09:14:16Z</dcterms:created>
  <dcterms:modified xsi:type="dcterms:W3CDTF">2026-09-24T16:14:38Z</dcterms:modified>
  <cp:category/>
</cp:coreProperties>
</file>