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6" r:id="rId9"/>
    <p:sldId id="263" r:id="rId10"/>
    <p:sldId id="267" r:id="rId11"/>
    <p:sldId id="262" r:id="rId12"/>
    <p:sldId id="261" r:id="rId13"/>
    <p:sldId id="270" r:id="rId14"/>
    <p:sldId id="269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22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5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62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40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8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1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57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2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8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5644E-AA67-4C5B-A0BB-52798F28E34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CF8F8-B5B0-459C-B49C-7B51DC77B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8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CSE471 — Directed Research</a:t>
            </a:r>
            <a:br>
              <a:rPr lang="en-US" b="1" dirty="0"/>
            </a:br>
            <a:r>
              <a:rPr lang="en-US" sz="3200" dirty="0">
                <a:solidFill>
                  <a:srgbClr val="00B0F0"/>
                </a:solidFill>
              </a:rPr>
              <a:t>Google Classroom - osqn7b6b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Mohammad Minhazul Alam</a:t>
            </a:r>
          </a:p>
          <a:p>
            <a:r>
              <a:rPr lang="en-US" dirty="0">
                <a:solidFill>
                  <a:schemeClr val="tx1"/>
                </a:solidFill>
              </a:rPr>
              <a:t>Asst. Professor, Dept. of CSE</a:t>
            </a:r>
          </a:p>
          <a:p>
            <a:r>
              <a:rPr lang="en-US" dirty="0">
                <a:solidFill>
                  <a:schemeClr val="tx1"/>
                </a:solidFill>
              </a:rPr>
              <a:t>Presidency University</a:t>
            </a:r>
          </a:p>
        </p:txBody>
      </p:sp>
    </p:spTree>
    <p:extLst>
      <p:ext uri="{BB962C8B-B14F-4D97-AF65-F5344CB8AC3E}">
        <p14:creationId xmlns:p14="http://schemas.microsoft.com/office/powerpoint/2010/main" val="3618775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CSE471 — Directed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Credits:</a:t>
            </a:r>
            <a:r>
              <a:rPr lang="en-US" dirty="0"/>
              <a:t> 01</a:t>
            </a:r>
            <a:br>
              <a:rPr lang="en-US" dirty="0"/>
            </a:br>
            <a:r>
              <a:rPr lang="en-US" b="1" dirty="0"/>
              <a:t>Level:</a:t>
            </a:r>
            <a:r>
              <a:rPr lang="en-US" dirty="0"/>
              <a:t> Undergraduate</a:t>
            </a:r>
            <a:br>
              <a:rPr lang="en-US" dirty="0"/>
            </a:br>
            <a:r>
              <a:rPr lang="en-US" b="1" dirty="0"/>
              <a:t>Duration:</a:t>
            </a:r>
            <a:r>
              <a:rPr lang="en-US" dirty="0"/>
              <a:t> 12-14 weeks</a:t>
            </a:r>
            <a:br>
              <a:rPr lang="en-US" dirty="0"/>
            </a:br>
            <a:r>
              <a:rPr lang="en-US" b="1" dirty="0"/>
              <a:t>Mode:</a:t>
            </a:r>
            <a:r>
              <a:rPr lang="en-US" dirty="0"/>
              <a:t> Seminar/workshop/discussion/project-based</a:t>
            </a:r>
            <a:br>
              <a:rPr lang="en-US" dirty="0"/>
            </a:br>
            <a:r>
              <a:rPr lang="en-US" b="1" dirty="0">
                <a:solidFill>
                  <a:srgbClr val="00B050"/>
                </a:solidFill>
              </a:rPr>
              <a:t>Final </a:t>
            </a:r>
            <a:r>
              <a:rPr lang="en-US" b="1" dirty="0"/>
              <a:t>Deliverable:</a:t>
            </a:r>
            <a:r>
              <a:rPr lang="en-US" dirty="0"/>
              <a:t> Individual or small-group undergraduate research proposal</a:t>
            </a:r>
          </a:p>
        </p:txBody>
      </p:sp>
    </p:spTree>
    <p:extLst>
      <p:ext uri="{BB962C8B-B14F-4D97-AF65-F5344CB8AC3E}">
        <p14:creationId xmlns:p14="http://schemas.microsoft.com/office/powerpoint/2010/main" val="2061061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Philosophy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 </a:t>
            </a:r>
            <a:r>
              <a:rPr lang="en-US" b="1" dirty="0"/>
              <a:t>not necessarily need to complete a full research project</a:t>
            </a:r>
            <a:r>
              <a:rPr lang="en-US" dirty="0"/>
              <a:t> during this 1-credit course.</a:t>
            </a:r>
          </a:p>
          <a:p>
            <a:r>
              <a:rPr lang="en-US" dirty="0"/>
              <a:t>Should be capable of designing a </a:t>
            </a:r>
            <a:r>
              <a:rPr lang="en-US" b="1" dirty="0"/>
              <a:t>feasible, ethically sound, scientifically defensible research study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5799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Philosophy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Will take students through: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</a:rPr>
              <a:t>Observation → Problem → Literature → Gap → Research Question → Hypothesis → Methodology → Evidence → Analysis → Conclusion</a:t>
            </a:r>
            <a:endParaRPr lang="en-US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781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Philosophy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Students should stop thinking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	"I have to develop an application."</a:t>
            </a:r>
          </a:p>
          <a:p>
            <a:r>
              <a:rPr lang="en-US" sz="2800" b="1" dirty="0"/>
              <a:t>Should start thinking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	"I have to investigate a question for which the answer is not already known."</a:t>
            </a:r>
            <a:endParaRPr lang="en-US" sz="2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801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Analyze the ethics concerning research involving human subjects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informed consent</a:t>
            </a:r>
          </a:p>
          <a:p>
            <a:pPr lvl="0"/>
            <a:r>
              <a:rPr lang="en-US" dirty="0"/>
              <a:t>privacy</a:t>
            </a:r>
          </a:p>
          <a:p>
            <a:pPr lvl="0"/>
            <a:r>
              <a:rPr lang="en-US" dirty="0"/>
              <a:t>confidentiality</a:t>
            </a:r>
          </a:p>
          <a:p>
            <a:pPr lvl="0"/>
            <a:r>
              <a:rPr lang="en-US" dirty="0"/>
              <a:t>anonymity</a:t>
            </a:r>
          </a:p>
          <a:p>
            <a:pPr lvl="0"/>
            <a:r>
              <a:rPr lang="en-US" dirty="0"/>
              <a:t>data protection</a:t>
            </a:r>
          </a:p>
          <a:p>
            <a:pPr lvl="0"/>
            <a:r>
              <a:rPr lang="en-US" dirty="0"/>
              <a:t>risks to participants</a:t>
            </a:r>
          </a:p>
          <a:p>
            <a:pPr lvl="0"/>
            <a:r>
              <a:rPr lang="en-US" dirty="0"/>
              <a:t>vulnerable participants</a:t>
            </a:r>
          </a:p>
          <a:p>
            <a:pPr lvl="0"/>
            <a:r>
              <a:rPr lang="en-US" dirty="0"/>
              <a:t>ethical use of publicly available data</a:t>
            </a:r>
          </a:p>
          <a:p>
            <a:pPr lvl="0"/>
            <a:r>
              <a:rPr lang="en-US" dirty="0"/>
              <a:t>research misconduct</a:t>
            </a:r>
          </a:p>
          <a:p>
            <a:r>
              <a:rPr lang="en-US" dirty="0"/>
              <a:t>responsible AI research</a:t>
            </a:r>
          </a:p>
        </p:txBody>
      </p:sp>
    </p:spTree>
    <p:extLst>
      <p:ext uri="{BB962C8B-B14F-4D97-AF65-F5344CB8AC3E}">
        <p14:creationId xmlns:p14="http://schemas.microsoft.com/office/powerpoint/2010/main" val="3039850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Devise a research project with proper methodology, scale, scope, and time limitations.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research problem</a:t>
            </a:r>
          </a:p>
          <a:p>
            <a:pPr lvl="0"/>
            <a:r>
              <a:rPr lang="en-US" dirty="0"/>
              <a:t>objectives</a:t>
            </a:r>
          </a:p>
          <a:p>
            <a:pPr lvl="0"/>
            <a:r>
              <a:rPr lang="en-US" dirty="0"/>
              <a:t>research questions</a:t>
            </a:r>
          </a:p>
          <a:p>
            <a:pPr lvl="0"/>
            <a:r>
              <a:rPr lang="en-US" dirty="0"/>
              <a:t>methodology</a:t>
            </a:r>
          </a:p>
          <a:p>
            <a:pPr lvl="0"/>
            <a:r>
              <a:rPr lang="en-US" dirty="0"/>
              <a:t>dataset/data source</a:t>
            </a:r>
          </a:p>
          <a:p>
            <a:pPr lvl="0"/>
            <a:r>
              <a:rPr lang="en-US" dirty="0"/>
              <a:t>experimental design</a:t>
            </a:r>
          </a:p>
          <a:p>
            <a:pPr lvl="0"/>
            <a:r>
              <a:rPr lang="en-US" dirty="0"/>
              <a:t>baseline</a:t>
            </a:r>
          </a:p>
          <a:p>
            <a:pPr lvl="0"/>
            <a:r>
              <a:rPr lang="en-US" dirty="0"/>
              <a:t>evaluation metrics</a:t>
            </a:r>
          </a:p>
          <a:p>
            <a:pPr lvl="0"/>
            <a:r>
              <a:rPr lang="en-US" dirty="0"/>
              <a:t>timeline</a:t>
            </a:r>
          </a:p>
          <a:p>
            <a:r>
              <a:rPr lang="en-US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4228462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Develop a hypothesis based on a real-world scenario of a focus area.</a:t>
            </a:r>
            <a:endParaRPr lang="en-US" sz="2400" dirty="0"/>
          </a:p>
          <a:p>
            <a:pPr lvl="0"/>
            <a:r>
              <a:rPr lang="en-US" sz="2400" dirty="0"/>
              <a:t>identify a real-world problem</a:t>
            </a:r>
          </a:p>
          <a:p>
            <a:pPr lvl="0"/>
            <a:r>
              <a:rPr lang="en-US" sz="2400" dirty="0"/>
              <a:t>formulate a research question</a:t>
            </a:r>
          </a:p>
          <a:p>
            <a:pPr lvl="0"/>
            <a:r>
              <a:rPr lang="en-US" sz="2400" dirty="0"/>
              <a:t>identify variables</a:t>
            </a:r>
          </a:p>
          <a:p>
            <a:pPr lvl="0"/>
            <a:r>
              <a:rPr lang="en-US" sz="2400" dirty="0"/>
              <a:t>formulate a testable hypothesis</a:t>
            </a:r>
          </a:p>
          <a:p>
            <a:pPr lvl="0"/>
            <a:r>
              <a:rPr lang="en-US" sz="2400" dirty="0"/>
              <a:t>explain how the hypothesis could be tested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426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Phase I — Understand Research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Weeks 1-2</a:t>
            </a:r>
          </a:p>
          <a:p>
            <a:pPr marL="0" indent="0">
              <a:buNone/>
            </a:pPr>
            <a:r>
              <a:rPr lang="en-US" dirty="0"/>
              <a:t>What is research? What are contemporary CSE researchers actually doing?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Phase II — Find the Gap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Weeks 3–5</a:t>
            </a:r>
          </a:p>
          <a:p>
            <a:pPr marL="0" indent="0">
              <a:buNone/>
            </a:pPr>
            <a:r>
              <a:rPr lang="en-US" dirty="0"/>
              <a:t>What has already been done, and what remains unresolved?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Phase III — Design the Study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Weeks 6–8</a:t>
            </a:r>
          </a:p>
          <a:p>
            <a:pPr marL="0" indent="0">
              <a:buNone/>
            </a:pPr>
            <a:r>
              <a:rPr lang="en-US" dirty="0"/>
              <a:t>How can we investigate the gap scientifically and ethically?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990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Phase IV — Communicate Research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Weeks 9–12</a:t>
            </a:r>
          </a:p>
          <a:p>
            <a:pPr marL="0" indent="0">
              <a:buNone/>
            </a:pPr>
            <a:r>
              <a:rPr lang="en-US" dirty="0"/>
              <a:t>Can the student defend and communicate the proposed research?</a:t>
            </a:r>
          </a:p>
        </p:txBody>
      </p:sp>
    </p:spTree>
    <p:extLst>
      <p:ext uri="{BB962C8B-B14F-4D97-AF65-F5344CB8AC3E}">
        <p14:creationId xmlns:p14="http://schemas.microsoft.com/office/powerpoint/2010/main" val="2263348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Plan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1681141"/>
              </p:ext>
            </p:extLst>
          </p:nvPr>
        </p:nvGraphicFramePr>
        <p:xfrm>
          <a:off x="457200" y="1524006"/>
          <a:ext cx="8229600" cy="46471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Week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Main Topic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Student Output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What is Research?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Research Interest Statement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Contemporary CSE Research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Research Area Exploration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Research Problem &amp; Project </a:t>
                      </a:r>
                      <a:r>
                        <a:rPr lang="en-US" sz="1600" dirty="0" err="1">
                          <a:effectLst/>
                        </a:rPr>
                        <a:t>vs</a:t>
                      </a:r>
                      <a:r>
                        <a:rPr lang="en-US" sz="1600" dirty="0">
                          <a:effectLst/>
                        </a:rPr>
                        <a:t> Research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Problem Statement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4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Finding &amp; Reading Research Papers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Paper Dissection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Literature Review, Research Gap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Literature Matrix, Gap Statement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Research Questions &amp; Hypothesis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Research Methodology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RQ + Hypothesis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 Draft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Experimental Design &amp; Evaluation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Experimental Plan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8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Scope, Feasibility &amp; Timeline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Research Plan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Academic Writing &amp; Citation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Proposal Draft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Research Presentation &amp; Defense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Presentation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Research Presentation &amp; Defense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Presentation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Research Presentation &amp; Defense</a:t>
                      </a:r>
                      <a:endParaRPr lang="en-US" sz="1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Presentation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795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Research?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research </a:t>
            </a:r>
            <a:r>
              <a:rPr lang="en-US" dirty="0" err="1"/>
              <a:t>vs</a:t>
            </a:r>
            <a:r>
              <a:rPr lang="en-US" dirty="0"/>
              <a:t> project</a:t>
            </a:r>
          </a:p>
          <a:p>
            <a:pPr lvl="0"/>
            <a:r>
              <a:rPr lang="en-US" dirty="0"/>
              <a:t>research </a:t>
            </a:r>
            <a:r>
              <a:rPr lang="en-US" dirty="0" err="1"/>
              <a:t>vs</a:t>
            </a:r>
            <a:r>
              <a:rPr lang="en-US" dirty="0"/>
              <a:t> development</a:t>
            </a:r>
          </a:p>
          <a:p>
            <a:pPr lvl="0"/>
            <a:r>
              <a:rPr lang="en-US" dirty="0"/>
              <a:t>research </a:t>
            </a:r>
            <a:r>
              <a:rPr lang="en-US" dirty="0" err="1"/>
              <a:t>vs</a:t>
            </a:r>
            <a:r>
              <a:rPr lang="en-US" dirty="0"/>
              <a:t> assignment</a:t>
            </a:r>
          </a:p>
          <a:p>
            <a:pPr lvl="0"/>
            <a:r>
              <a:rPr lang="en-US" dirty="0"/>
              <a:t>exploratory </a:t>
            </a:r>
            <a:r>
              <a:rPr lang="en-US" dirty="0" err="1"/>
              <a:t>vs</a:t>
            </a:r>
            <a:r>
              <a:rPr lang="en-US" dirty="0"/>
              <a:t> experimental research</a:t>
            </a:r>
          </a:p>
          <a:p>
            <a:pPr lvl="0"/>
            <a:r>
              <a:rPr lang="en-US" dirty="0"/>
              <a:t>why research is necessary</a:t>
            </a:r>
          </a:p>
          <a:p>
            <a:pPr lvl="0"/>
            <a:r>
              <a:rPr lang="en-US" dirty="0"/>
              <a:t>characteristics of good research</a:t>
            </a:r>
          </a:p>
        </p:txBody>
      </p:sp>
    </p:spTree>
    <p:extLst>
      <p:ext uri="{BB962C8B-B14F-4D97-AF65-F5344CB8AC3E}">
        <p14:creationId xmlns:p14="http://schemas.microsoft.com/office/powerpoint/2010/main" val="576244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Research?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"Develop an AI-based attendance system.“</a:t>
            </a:r>
          </a:p>
          <a:p>
            <a:pPr marL="0" lvl="0" indent="0" algn="ctr">
              <a:buNone/>
            </a:pPr>
            <a:r>
              <a:rPr lang="en-US" b="1" dirty="0">
                <a:solidFill>
                  <a:srgbClr val="00B0F0"/>
                </a:solidFill>
              </a:rPr>
              <a:t>Vs.</a:t>
            </a:r>
          </a:p>
          <a:p>
            <a:r>
              <a:rPr lang="en-US" b="1" dirty="0"/>
              <a:t>"Can a lightweight face-recognition model achieve acceptable attendance-recognition accuracy under low-resource classroom conditions?"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0B0F0"/>
                </a:solidFill>
              </a:rPr>
              <a:t>Which one is research? Why?</a:t>
            </a:r>
            <a:endParaRPr lang="en-US" b="1" dirty="0">
              <a:solidFill>
                <a:srgbClr val="00B0F0"/>
              </a:solidFill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118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Research?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Project / Research / Could become research</a:t>
            </a:r>
            <a:endParaRPr lang="en-US" dirty="0"/>
          </a:p>
          <a:p>
            <a:pPr lvl="0"/>
            <a:r>
              <a:rPr lang="en-US" dirty="0"/>
              <a:t>Mobile banking application</a:t>
            </a:r>
          </a:p>
          <a:p>
            <a:pPr lvl="0"/>
            <a:r>
              <a:rPr lang="en-US" dirty="0"/>
              <a:t>Comparison of CNN architectures for plant disease detection</a:t>
            </a:r>
          </a:p>
          <a:p>
            <a:pPr lvl="0"/>
            <a:r>
              <a:rPr lang="en-US" dirty="0"/>
              <a:t>University </a:t>
            </a:r>
            <a:r>
              <a:rPr lang="en-US" dirty="0" err="1"/>
              <a:t>chatbot</a:t>
            </a:r>
            <a:endParaRPr lang="en-US" dirty="0"/>
          </a:p>
          <a:p>
            <a:pPr lvl="0"/>
            <a:r>
              <a:rPr lang="en-US" dirty="0"/>
              <a:t>Effect of data augmentation on image classification</a:t>
            </a:r>
          </a:p>
          <a:p>
            <a:pPr lvl="0"/>
            <a:r>
              <a:rPr lang="en-US" dirty="0"/>
              <a:t>Student perception of AI-based learning tools</a:t>
            </a:r>
          </a:p>
        </p:txBody>
      </p:sp>
    </p:spTree>
    <p:extLst>
      <p:ext uri="{BB962C8B-B14F-4D97-AF65-F5344CB8AC3E}">
        <p14:creationId xmlns:p14="http://schemas.microsoft.com/office/powerpoint/2010/main" val="763232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Research Interest Statement — 10 marks</a:t>
            </a:r>
            <a:endParaRPr lang="en-US" dirty="0"/>
          </a:p>
          <a:p>
            <a:pPr marL="0" indent="0">
              <a:buNone/>
            </a:pPr>
            <a:r>
              <a:rPr lang="en-US" u="sng" dirty="0"/>
              <a:t>Submit 2 pages:</a:t>
            </a:r>
          </a:p>
          <a:p>
            <a:pPr marL="0" lvl="0" indent="0">
              <a:buNone/>
            </a:pPr>
            <a:r>
              <a:rPr lang="en-US" dirty="0">
                <a:solidFill>
                  <a:srgbClr val="00B0F0"/>
                </a:solidFill>
              </a:rPr>
              <a:t>My research interests - two research areas I am interested in</a:t>
            </a:r>
          </a:p>
          <a:p>
            <a:pPr lvl="0"/>
            <a:r>
              <a:rPr lang="en-US" dirty="0"/>
              <a:t>One real-world problem for each area</a:t>
            </a:r>
          </a:p>
          <a:p>
            <a:pPr lvl="0"/>
            <a:r>
              <a:rPr lang="en-US" dirty="0"/>
              <a:t>Why the problem interests me</a:t>
            </a:r>
          </a:p>
          <a:p>
            <a:pPr lvl="0"/>
            <a:r>
              <a:rPr lang="en-US" dirty="0"/>
              <a:t>What I currently know</a:t>
            </a:r>
          </a:p>
          <a:p>
            <a:r>
              <a:rPr lang="en-US" dirty="0"/>
              <a:t>What I don't know</a:t>
            </a:r>
          </a:p>
        </p:txBody>
      </p:sp>
    </p:spTree>
    <p:extLst>
      <p:ext uri="{BB962C8B-B14F-4D97-AF65-F5344CB8AC3E}">
        <p14:creationId xmlns:p14="http://schemas.microsoft.com/office/powerpoint/2010/main" val="1876273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575</Words>
  <Application>Microsoft Office PowerPoint</Application>
  <PresentationFormat>On-screen Show (4:3)</PresentationFormat>
  <Paragraphs>136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CSE471 — Directed Research Google Classroom - osqn7b6b</vt:lpstr>
      <vt:lpstr>CSE471 — Directed Research</vt:lpstr>
      <vt:lpstr>Course Philosophy</vt:lpstr>
      <vt:lpstr>Course Philosophy</vt:lpstr>
      <vt:lpstr>Course Philosophy</vt:lpstr>
      <vt:lpstr>Course Outcomes</vt:lpstr>
      <vt:lpstr>Course Outcomes</vt:lpstr>
      <vt:lpstr>Course Outcomes</vt:lpstr>
      <vt:lpstr>Course Phases</vt:lpstr>
      <vt:lpstr>Course Phases</vt:lpstr>
      <vt:lpstr>Course Plan</vt:lpstr>
      <vt:lpstr>What Is Research?</vt:lpstr>
      <vt:lpstr>What Is Research?</vt:lpstr>
      <vt:lpstr>What Is Research?</vt:lpstr>
      <vt:lpstr>Assignment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CSE471 — Directed Research</dc:title>
  <dc:creator>AKG</dc:creator>
  <cp:lastModifiedBy>2005067 - Masnoon Muztahid</cp:lastModifiedBy>
  <cp:revision>27</cp:revision>
  <dcterms:created xsi:type="dcterms:W3CDTF">2026-09-15T05:46:18Z</dcterms:created>
  <dcterms:modified xsi:type="dcterms:W3CDTF">2026-09-29T07:16:00Z</dcterms:modified>
</cp:coreProperties>
</file>